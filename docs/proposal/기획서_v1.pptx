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8" r:id="rId3"/>
    <p:sldId id="279" r:id="rId4"/>
    <p:sldId id="280" r:id="rId5"/>
    <p:sldId id="273" r:id="rId6"/>
    <p:sldId id="281" r:id="rId7"/>
    <p:sldId id="283" r:id="rId8"/>
    <p:sldId id="28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1B23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33"/>
    <p:restoredTop sz="94648"/>
  </p:normalViewPr>
  <p:slideViewPr>
    <p:cSldViewPr snapToGrid="0">
      <p:cViewPr varScale="1">
        <p:scale>
          <a:sx n="95" d="100"/>
          <a:sy n="95" d="100"/>
        </p:scale>
        <p:origin x="2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2" Type="http://customschemas.google.com/relationships/presentationmetadata" Target="meta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/>
          <p:cNvSpPr txBox="1"/>
          <p:nvPr/>
        </p:nvSpPr>
        <p:spPr>
          <a:xfrm>
            <a:off x="2631231" y="1570963"/>
            <a:ext cx="6929531" cy="136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2026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 스마트 공장 운영 시스템 </a:t>
            </a:r>
            <a:r>
              <a:rPr lang="en-US" altLang="ko-KR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MVP </a:t>
            </a:r>
            <a:r>
              <a:rPr lang="ko-KR" altLang="en-US" sz="3600" b="1" dirty="0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개발 </a:t>
            </a:r>
            <a:r>
              <a:rPr lang="ko-KR" altLang="en-US" sz="3600" b="1" dirty="0" err="1">
                <a:solidFill>
                  <a:srgbClr val="202124"/>
                </a:solidFill>
                <a:latin typeface="Pretendard_KR"/>
                <a:ea typeface="Malgun Gothic" panose="020B0503020000020004" pitchFamily="50" charset="-127"/>
              </a:rPr>
              <a:t>해커톤</a:t>
            </a:r>
            <a:endParaRPr lang="en-US" altLang="ko-KR" sz="3600" b="1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259346336"/>
              </p:ext>
            </p:extLst>
          </p:nvPr>
        </p:nvGraphicFramePr>
        <p:xfrm>
          <a:off x="3386675" y="4388003"/>
          <a:ext cx="5418650" cy="899000"/>
        </p:xfrm>
        <a:graphic>
          <a:graphicData uri="http://schemas.openxmlformats.org/drawingml/2006/table">
            <a:tbl>
              <a:tblPr firstRow="1" bandRow="1"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FactoryMind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/>
                      </a:pPr>
                      <a:r>
                        <a:rPr lang="ko-KR" altLang="en-US" sz="1800" u="none" strike="noStrike" cap="none" dirty="0"/>
                        <a:t>프로젝트명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 기반 설비 예지보전 및 공간 안전 관제 플랫폼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613855372"/>
                  </a:ext>
                </a:extLst>
              </a:tr>
            </a:tbl>
          </a:graphicData>
        </a:graphic>
      </p:graphicFrame>
      <p:cxnSp>
        <p:nvCxnSpPr>
          <p:cNvPr id="94" name="Google Shape;94;p1"/>
          <p:cNvCxnSpPr/>
          <p:nvPr/>
        </p:nvCxnSpPr>
        <p:spPr>
          <a:xfrm>
            <a:off x="2310447" y="2956202"/>
            <a:ext cx="75711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8F6F64B-B445-0E07-4C6D-0A33DC6483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6EC716A2-5020-43D4-0492-05DB61857621}"/>
              </a:ext>
            </a:extLst>
          </p:cNvPr>
          <p:cNvSpPr txBox="1"/>
          <p:nvPr/>
        </p:nvSpPr>
        <p:spPr>
          <a:xfrm>
            <a:off x="4645453" y="3065537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0" i="0" dirty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예선 기획서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CB1259FB-3BC9-1F76-5145-01C9E5C371C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1.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A7330DB1-95E4-4D38-F6A4-9BB98AC14BD1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48CD7EDD-FD6F-B8B4-97AA-853BC09F0B0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3195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1. </a:t>
            </a:r>
            <a:r>
              <a:rPr lang="ko-KR" altLang="en-US" dirty="0">
                <a:latin typeface="+mj-ea"/>
                <a:ea typeface="+mj-ea"/>
              </a:rPr>
              <a:t>문제 정의 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E1A0B1D-D56D-F247-A463-80FCAC8780BB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1100" b="1">
                <a:solidFill>
                  <a:srgbClr val="333333"/>
                </a:solidFill>
              </a:defRPr>
            </a:pPr>
            <a:r>
              <a:t>■ 제조 현장의 핵심 문제: 설비 고장으로 인한 비계획 정지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국내 중소 제조업체의 설비 관리는 대부분 사후 정비(Reactive) 또는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주기적 정비(Periodic)에 의존하고 있습니다.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문제 1: 설비 고장의 72%가 센서 데이터에서 사전 징후가 있었으나 감지 실패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문제 2: 정비 인력이 고장 위치를 파악하는 데 평균 47분 소요 (도면 미연동)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문제 3: 안전 사고의 34%가 설비 이상 상태에서 정비 동선 미확보로 발생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 b="1">
                <a:solidFill>
                  <a:srgbClr val="333333"/>
                </a:solidFill>
              </a:defRPr>
            </a:pPr>
            <a:r>
              <a:t>■ 해결 대상 및 적용 영역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대상: 센서 부착 회전/진동/온도 기반 설비 (펌프, 모터, 터빈 등)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영역: 설비 예지보전 + 공간 기반 안전 관제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 b="1">
                <a:solidFill>
                  <a:srgbClr val="333333"/>
                </a:solidFill>
              </a:defRPr>
            </a:pPr>
            <a:r>
              <a:t>■ 핵심 KPI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비계획 정지 시간 40% 감소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정비 대응 시간 47분 → 10분 이내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설비 잔여수명(RUL) 예측 RMSE 20 이하</a:t>
            </a:r>
          </a:p>
        </p:txBody>
      </p:sp>
      <p:sp>
        <p:nvSpPr>
          <p:cNvPr id="12" name="Google Shape;100;p2">
            <a:extLst>
              <a:ext uri="{FF2B5EF4-FFF2-40B4-BE49-F238E27FC236}">
                <a16:creationId xmlns:a16="http://schemas.microsoft.com/office/drawing/2014/main" id="{A89DAF47-A872-25DE-4F4E-6A35741F0D6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BEB92B5-54A5-698D-BCC7-53FCC2DB5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F5F4-E7D0-4278-C766-15538099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250B76DD-037A-6065-6C19-E692AEE22FB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37E35A3E-9640-A8FF-B4C4-60FCEC5351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AD104C8F-EA2D-31A6-F3F6-3F686D73F3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 txBox="1"/>
          <p:nvPr/>
        </p:nvSpPr>
        <p:spPr>
          <a:xfrm>
            <a:off x="939333" y="1189703"/>
            <a:ext cx="3553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1628004-1AB5-0077-6D18-66ED08E03B10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384030-AD97-CF1C-87BF-7D94D6FE4AED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1100" b="1">
                <a:solidFill>
                  <a:srgbClr val="333333"/>
                </a:solidFill>
              </a:defRPr>
            </a:pPr>
            <a:r>
              <a:t>■ FactoryMind — 예측하고 보여주는 스마트 정비 플랫폼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설비 센서 데이터로 고장을 예측하고, 그 결과를 공장 도면 위에 시각화하여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정비 담당자가 즉시 대응할 수 있는 통합 플랫폼입니다.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 b="1">
                <a:solidFill>
                  <a:srgbClr val="333333"/>
                </a:solidFill>
              </a:defRPr>
            </a:pPr>
            <a:r>
              <a:t>■ 핵심 아이디어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기존 예지보전은 "언제 고장나는가"만 알려줍니다.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FactoryMind는 "언제, 어디서, 어떻게 대응하는가"까지 안내합니다.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① 시계열 센서 → AI 이상 탐지 + 잔여수명(RUL) 예측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② 예측 결과를 공장 도면 위에 위치 기반 시각화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③ 해당 설비의 안전 수칙 및 정비 가이드 자동 생성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 b="1">
                <a:solidFill>
                  <a:srgbClr val="333333"/>
                </a:solidFill>
              </a:defRPr>
            </a:pPr>
            <a:r>
              <a:t>■ 제공 가치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정비 담당자: "지금 어느 설비를 먼저 봐야 하는가" 즉시 판단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공장장: "이번 주 정비 계획"을 데이터 기반으로 수립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안전 관리자: 위험 설비 주변 안전 통로 확보 상태 실시간 확인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7E78191-AC7B-4431-6348-9F9503FA34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B25F51EC-3983-E3FC-5475-1180B8764FD0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27285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D086-7FAD-83A2-673F-CD401C76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AF58BFF4-5D90-B7BB-A5FB-15DD1784476A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CBEF9D9D-82FE-E102-BEBE-5DB9646F8C7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9F24ED86-00F9-D00A-872B-AD59A51EEFD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 txBox="1"/>
          <p:nvPr/>
        </p:nvSpPr>
        <p:spPr>
          <a:xfrm>
            <a:off x="939333" y="1189703"/>
            <a:ext cx="3433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주요 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B46F3FE-8810-F742-96B1-76FE8CAEE9B6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2C9FDC-589C-024C-4DAF-8D28BA7962EF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■ 핵심 기능 4가지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기능 1. 실시간 설비 상태 모니터링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센서 데이터(진동, 온도, 압력 등) 실시간 수집 및 시각화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설비별 정상/주의/위험 3단계 상태 표시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기능 2. AI 기반 고장 예측 및 잔여수명(RUL) 추정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LSTM Autoencoder 기반 이상 탐지 (정상 패턴 학습 → 이탈 감지)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CNN-LSTM 기반 잔여수명 예측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기능 3. 도면 기반 공간 시각화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공장 배치도 위에 설비 위치 매핑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위험 설비 하이라이트 + 정비 동선 표시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설비 클릭 시 상세 센서 데이터 및 예측 결과 드릴다운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기능 4. 정비 의사결정 지원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위험도 기반 정비 우선순위 자동 산정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정비 이력 + 예측 결과 기반 최적 정비 시점 추천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• 안전 수칙 및 정비 가이드 자동 표시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65C56526-1A7E-EE3B-1FB2-69A678931E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F184EC9F-8B26-D1F2-0ED1-8EC31B8C41EE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86CC-5FEA-6E0F-6607-8B8860B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0319987-BCA9-9ED0-C4BE-D430B5A78B7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A304978-B91A-D0F9-08E5-E6BCC204DD0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ED7841F-3F32-3698-0915-523541292295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계획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 Plan)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21B79617-C1F0-52D3-B070-B0E157FFF20E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E96B855B-7B6A-B904-E1A4-9B512CAD7D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E28D85C7-9402-2E2D-12C4-AE1F84F0991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A748C-1CE4-5657-178F-716B4A80432A}"/>
              </a:ext>
            </a:extLst>
          </p:cNvPr>
          <p:cNvSpPr txBox="1"/>
          <p:nvPr/>
        </p:nvSpPr>
        <p:spPr>
          <a:xfrm>
            <a:off x="939332" y="1189703"/>
            <a:ext cx="4069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데이터 및 기술 활용 계획 </a:t>
            </a:r>
            <a:r>
              <a:rPr lang="en-US" altLang="ko-KR" dirty="0">
                <a:latin typeface="+mj-ea"/>
                <a:ea typeface="+mj-ea"/>
              </a:rPr>
              <a:t>(Data &amp; Tech Plan)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74598198-5F31-F6FA-47DC-AA9059C06E01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4FC7CE-8E2B-C5DE-8F36-06CC621A459E}"/>
              </a:ext>
            </a:extLst>
          </p:cNvPr>
          <p:cNvSpPr txBox="1"/>
          <p:nvPr/>
        </p:nvSpPr>
        <p:spPr>
          <a:xfrm>
            <a:off x="2664541" y="1957156"/>
            <a:ext cx="7541342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■ 활용 데이터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Microsoft Azure Predictive Maintenance 데이터셋 (~400MB)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- 텔레메트리: 100대 설비 x 센서 4종 x 1년 (876K rows)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- 에러 로그: 설비별 에러 유형/시간 (3,919 rows)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- 정비 이력: 컴포넌트별 교체 기록 (3,286 rows)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- 고장 기록: 고장 유형/시간 (761 rows)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- 설비 메타: 모델/제조년도 (100 rows)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AI/분석 기술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이상 탐지: LSTM Autoencoder (재구성 오차 기반)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RUL 예측: CNN-LSTM Regression (멀티 센서 입력)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Feature Engineering: 롤링 통계, 시간 기반 집계, 라벨 생성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기술 스택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AI/ML: Python, PyTorch, scikit-learn, Pandas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Platform: Streamlit (대시보드), Plotly (시각화)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Data: SQLite (정비 이력), CSV (센서 데이터)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Infra: Docker (시연 환경 일체화)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기술적 제약 및 해결 전략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도면: SVG 기반 정적 배치도 활용 (복잡한 CAD 파싱 불필요)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실시간: 과거 데이터를 시간순 재생하여 실시간 효과 구현</a:t>
            </a: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C3D6C61D-BBDC-1167-190C-BD4CD9BF21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A5283CA2-90DA-09BA-1082-399479A662C8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83210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5F2F-DE76-5319-E068-14743C84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AE7259-26F0-06A2-EAF0-0D348222D14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84726C7-DE11-80A0-7DC0-A7AA122EF94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4C676688-A4F9-28A5-585E-15C4791A36ED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Case)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9FEEE123-BAF0-A0FD-15FF-1DB31311C4F2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FD89DB19-FF6A-0CDA-AF62-F36E28F99C4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1C89922-1506-2D6C-C1C7-A35B619FBB4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03726A74-16E1-92E8-6C23-4217F6189B6D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BE20A8A-50DC-1699-36DC-DE2652FD7726}"/>
              </a:ext>
            </a:extLst>
          </p:cNvPr>
          <p:cNvSpPr txBox="1"/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■ 주요 사용자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① 정비 담당자 — 현장에서 설비를 직접 점검/수리하는 실무자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② 공장장/생산관리자 — 전체 설비 상태 모니터링, 정비 계획 수립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③ 안전 관리자 — 위험 설비 주변 안전 상태 관제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대표 시나리오: "정비 담당자 박 기사의 하루"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09:00  출근 → 대시보드 확인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도면 위에 3호 펌프가 빨간색으로 표시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"잔여수명 5일, 진동 센서 이상 패턴 감지"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09:05  3호 펌프 클릭 → 상세 정보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지난 7일 진동 트렌드 + 이상 구간 하이라이트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"베어링 교체 권장, 예상 소요 2시간"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도면 위 정비 동선 및 안전 수칙 표시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09:10  정비 착수 → 완료 후 시스템에 기록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도면 위 3호 펌프가 녹색으로 전환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정비 이력 DB 자동 반영 → 다음 예측에 활용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핵심 가치: 고장 인지~착수 47분 → 10분 이내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B6FD35-8911-88CB-877F-E612391C583D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Case)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5126979-E795-B5FD-2861-875755BE23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0AF01168-01B8-DC74-BCBE-D88540B8F2E5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18710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5E8FC-AF2C-579B-9590-CBF085597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09914A8-02ED-C312-A18A-F0400EE2D348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5AB79AF0-60D8-DAFD-ADA5-DCB0D1EDF47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6B1A2F3-666A-22BB-FF71-0DD83ECC923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6.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범위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(MVP Scope)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89685848-AB8F-A36C-25D5-DC70B40222B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34A7F8E4-A3AF-3E82-0313-AEF582DA22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97705F4-E4B5-B067-FB20-9054BFFE100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E9DE420-DE7B-8768-0FC1-D2BA97FE1AF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11D661-D63D-C639-8CAF-6774EF15CEBB}"/>
              </a:ext>
            </a:extLst>
          </p:cNvPr>
          <p:cNvSpPr txBox="1"/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■ 본선 MVP 구현 범위 (8시간 내 시연 가능)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━━ Must-have (반드시 구현) ━━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센서 데이터 실시간 모니터링 대시보드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AI 이상 탐지 모델 (LSTM Autoencoder) 동작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잔여수명(RUL) 예측 결과 표시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공장 도면 위 설비 상태 시각화 (정상/주의/위험)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설비 클릭 시 상세 센서 데이터 드릴다운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━━ Should-have (가능하면 구현) ━━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정비 우선순위 자동 산정 및 추천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정비 이력 조회 및 기록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안전 수칙 가이드 표시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━━ Phase 2+ (향후 확장) ━━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현장 카메라 영상 연동 (Object Detection)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자연어 질의 기반 설비 조회 (RAG)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모바일 알림 연동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구현 우선순위: 모델 정확도 &gt; 도면 시각화 &gt; 정비 추천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역할 분담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소지민: AI 모델(이상탐지+RUL), 데이터 파이프라인, 도면 매핑 로직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원정환: 대시보드 UI, 센서 시각화, 도면 인터랙션, 시연 환경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120F58-8315-85C3-52C9-14AFDA96469F}"/>
              </a:ext>
            </a:extLst>
          </p:cNvPr>
          <p:cNvSpPr txBox="1"/>
          <p:nvPr/>
        </p:nvSpPr>
        <p:spPr>
          <a:xfrm>
            <a:off x="939333" y="1189703"/>
            <a:ext cx="4219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MVP </a:t>
            </a:r>
            <a:r>
              <a:rPr lang="ko-KR" altLang="en-US" dirty="0">
                <a:latin typeface="+mj-ea"/>
                <a:ea typeface="+mj-ea"/>
              </a:rPr>
              <a:t>구현 범위</a:t>
            </a:r>
            <a:r>
              <a:rPr lang="en-US" altLang="ko-KR" dirty="0">
                <a:latin typeface="+mj-ea"/>
                <a:ea typeface="+mj-ea"/>
              </a:rPr>
              <a:t>(MVP Scope)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01E17689-E744-2C0D-412D-DE9C1722A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926036DA-B835-FA25-3FC1-05D1768A0924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4895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9DE8-42A8-681C-5E1B-73196E0C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662CCC3A-67D3-9E2D-ED85-F4ACDA9881F3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648C386E-E25E-A7E0-794C-23D5AC7A557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" name="Google Shape;92;p1">
            <a:extLst>
              <a:ext uri="{FF2B5EF4-FFF2-40B4-BE49-F238E27FC236}">
                <a16:creationId xmlns:a16="http://schemas.microsoft.com/office/drawing/2014/main" id="{DEF02F1E-697C-7F56-95DC-71E50216EDF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 txBox="1"/>
          <p:nvPr/>
        </p:nvSpPr>
        <p:spPr>
          <a:xfrm>
            <a:off x="939333" y="1189703"/>
            <a:ext cx="4308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F9243552-6E4F-42E8-93DC-3EB0B30CBB0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BA99FA-B21D-F75D-948E-7068D40928E0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■ 정량적 기대 효과</a:t>
            </a:r>
            <a:endParaRPr lang="en-US" altLang="ko-KR" sz="1400" b="1" dirty="0">
              <a:solidFill>
                <a:srgbClr val="3C7CDE"/>
              </a:solidFill>
            </a:endParaRP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비계획 정지(Unplanned Downtime) 40% 감소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연간 설비 1대당 평균 72시간 정지 → 43시간으로 절감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정비 대응 시간 80% 단축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고장 인지~착수 47분 → 10분 이내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정비 비용 30% 절감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  → 사후 정비(긴급) → 예방 정비(계획) 전환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정성적 기대 효과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정비 담당자의 경험 의존도 감소 → 신입도 즉시 대응 가능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안전 사고 예방 → 위험 설비 주변 선제적 안전 조치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데이터 기반 의사결정 문화 정착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현장 적용 가능성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센서 부착 설비가 있는 모든 제조 현장에 즉시 적용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SVG 도면만 교체하면 공장별 커스터마이징 용이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클라우드/온프레미스 모두 배포 가능 (Docker)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1000" b="1">
                <a:solidFill>
                  <a:srgbClr val="333333"/>
                </a:solidFill>
              </a:defRPr>
            </a:pPr>
            <a:r>
              <a:t>■ 향후 확장성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Phase 2: 현장 카메라 영상 연동 (CV 기반 설비/장애물 탐지)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Phase 3: 산업안전법 Graph-RAG (법규 기반 안전 자동 점검)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Phase 4: 디지털 트윈 (3D 공장 모델 + 실시간 시뮬레이션)</a:t>
            </a:r>
          </a:p>
        </p:txBody>
      </p:sp>
      <p:pic>
        <p:nvPicPr>
          <p:cNvPr id="13" name="Picture 2" descr="차세대융합기술연구원, 반도체 부품 국산화 위한 기술 실증 지원사업 참여 기업 모집 &gt; 뉴스 | CIOCISO">
            <a:extLst>
              <a:ext uri="{FF2B5EF4-FFF2-40B4-BE49-F238E27FC236}">
                <a16:creationId xmlns:a16="http://schemas.microsoft.com/office/drawing/2014/main" id="{8749BE17-5128-AC43-85F8-6B9739503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 b="35256"/>
          <a:stretch>
            <a:fillRect/>
          </a:stretch>
        </p:blipFill>
        <p:spPr bwMode="auto">
          <a:xfrm>
            <a:off x="9298782" y="6434300"/>
            <a:ext cx="1555879" cy="33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FD31846E-1545-CCE0-0B44-9A65BC1534A7}"/>
              </a:ext>
            </a:extLst>
          </p:cNvPr>
          <p:cNvSpPr txBox="1"/>
          <p:nvPr/>
        </p:nvSpPr>
        <p:spPr>
          <a:xfrm>
            <a:off x="8775865" y="229867"/>
            <a:ext cx="3044336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스마트 공장 운영 시스템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</a:t>
            </a:r>
            <a:r>
              <a:rPr lang="ko-KR" altLang="en-US" sz="1000" b="1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해커톤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446</Words>
  <Application>Microsoft Macintosh PowerPoint</Application>
  <PresentationFormat>와이드스크린</PresentationFormat>
  <Paragraphs>66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Malgun Gothic</vt:lpstr>
      <vt:lpstr>Malgun Gothic</vt:lpstr>
      <vt:lpstr>Pretendard_KR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Dacon io</cp:lastModifiedBy>
  <cp:revision>83</cp:revision>
  <dcterms:created xsi:type="dcterms:W3CDTF">2024-05-21T00:00:56Z</dcterms:created>
  <dcterms:modified xsi:type="dcterms:W3CDTF">2026-04-22T06:04:35Z</dcterms:modified>
</cp:coreProperties>
</file>