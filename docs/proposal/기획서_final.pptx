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78" r:id="rId3"/>
    <p:sldId id="279" r:id="rId4"/>
    <p:sldId id="280" r:id="rId5"/>
    <p:sldId id="273" r:id="rId6"/>
    <p:sldId id="281" r:id="rId7"/>
    <p:sldId id="283" r:id="rId8"/>
    <p:sldId id="282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" roundtripDataSignature="AMtx7mihjF2ZWQEcNdCQGL3IzqOLXbA9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1B23"/>
    <a:srgbClr val="3CBF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A43732-219E-4773-AEE6-7331DB972763}">
  <a:tblStyle styleId="{97A43732-219E-4773-AEE6-7331DB972763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833"/>
    <p:restoredTop sz="94648"/>
  </p:normalViewPr>
  <p:slideViewPr>
    <p:cSldViewPr snapToGrid="0">
      <p:cViewPr varScale="1">
        <p:scale>
          <a:sx n="95" d="100"/>
          <a:sy n="95" d="100"/>
        </p:scale>
        <p:origin x="208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2" Type="http://customschemas.google.com/relationships/presentationmetadata" Target="metadata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" name="Google Shape;90;p1"/>
          <p:cNvCxnSpPr/>
          <p:nvPr/>
        </p:nvCxnSpPr>
        <p:spPr>
          <a:xfrm>
            <a:off x="388374" y="6415548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2" name="Google Shape;92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Google Shape;90;p1">
            <a:extLst>
              <a:ext uri="{FF2B5EF4-FFF2-40B4-BE49-F238E27FC236}">
                <a16:creationId xmlns:a16="http://schemas.microsoft.com/office/drawing/2014/main" id="{053CAB3C-01D3-307A-B765-DB89E56FD267}"/>
              </a:ext>
            </a:extLst>
          </p:cNvPr>
          <p:cNvCxnSpPr/>
          <p:nvPr/>
        </p:nvCxnSpPr>
        <p:spPr>
          <a:xfrm>
            <a:off x="388374" y="364575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8" name="Google Shape;88;p1"/>
          <p:cNvSpPr txBox="1"/>
          <p:nvPr/>
        </p:nvSpPr>
        <p:spPr>
          <a:xfrm>
            <a:off x="2631231" y="1570963"/>
            <a:ext cx="6929531" cy="1366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3600" b="1" dirty="0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2026</a:t>
            </a:r>
            <a:r>
              <a:rPr lang="ko-KR" altLang="en-US" sz="3600" b="1" dirty="0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 스마트 공장 운영 시스템 </a:t>
            </a:r>
            <a:r>
              <a:rPr lang="en-US" altLang="ko-KR" sz="3600" b="1" dirty="0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MVP </a:t>
            </a:r>
            <a:r>
              <a:rPr lang="ko-KR" altLang="en-US" sz="3600" b="1" dirty="0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개발 </a:t>
            </a:r>
            <a:r>
              <a:rPr lang="ko-KR" altLang="en-US" sz="3600" b="1" dirty="0" err="1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해커톤</a:t>
            </a:r>
            <a:endParaRPr lang="en-US" altLang="ko-KR" sz="3600" b="1" i="0" dirty="0">
              <a:solidFill>
                <a:srgbClr val="202124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graphicFrame>
        <p:nvGraphicFramePr>
          <p:cNvPr id="89" name="Google Shape;89;p1"/>
          <p:cNvGraphicFramePr/>
          <p:nvPr>
            <p:extLst>
              <p:ext uri="{D42A27DB-BD31-4B8C-83A1-F6EECF244321}">
                <p14:modId xmlns:p14="http://schemas.microsoft.com/office/powerpoint/2010/main" val="259346336"/>
              </p:ext>
            </p:extLst>
          </p:nvPr>
        </p:nvGraphicFramePr>
        <p:xfrm>
          <a:off x="3386675" y="4388003"/>
          <a:ext cx="5418650" cy="899000"/>
        </p:xfrm>
        <a:graphic>
          <a:graphicData uri="http://schemas.openxmlformats.org/drawingml/2006/table">
            <a:tbl>
              <a:tblPr firstRow="1" bandRow="1">
                <a:tableStyleId>{97A43732-219E-4773-AEE6-7331DB972763}</a:tableStyleId>
              </a:tblPr>
              <a:tblGrid>
                <a:gridCol w="270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200"/>
                      </a:pPr>
                      <a:r>
                        <a:rPr lang="ko-KR" sz="1800" u="none" strike="noStrike" cap="none" dirty="0" err="1"/>
                        <a:t>팀명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FactoryMind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200"/>
                      </a:pPr>
                      <a:r>
                        <a:rPr lang="ko-KR" altLang="en-US" sz="1800" u="none" strike="noStrike" cap="none" dirty="0"/>
                        <a:t>프로젝트명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AI 비전 기반 품질 자동 기록 및 불량 원인 추적 시스템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613855372"/>
                  </a:ext>
                </a:extLst>
              </a:tr>
            </a:tbl>
          </a:graphicData>
        </a:graphic>
      </p:graphicFrame>
      <p:cxnSp>
        <p:nvCxnSpPr>
          <p:cNvPr id="94" name="Google Shape;94;p1"/>
          <p:cNvCxnSpPr/>
          <p:nvPr/>
        </p:nvCxnSpPr>
        <p:spPr>
          <a:xfrm>
            <a:off x="2310447" y="2956202"/>
            <a:ext cx="757110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88F6F64B-B445-0E07-4C6D-0A33DC6483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88;p1">
            <a:extLst>
              <a:ext uri="{FF2B5EF4-FFF2-40B4-BE49-F238E27FC236}">
                <a16:creationId xmlns:a16="http://schemas.microsoft.com/office/drawing/2014/main" id="{6EC716A2-5020-43D4-0492-05DB61857621}"/>
              </a:ext>
            </a:extLst>
          </p:cNvPr>
          <p:cNvSpPr txBox="1"/>
          <p:nvPr/>
        </p:nvSpPr>
        <p:spPr>
          <a:xfrm>
            <a:off x="4645453" y="3065537"/>
            <a:ext cx="2901085" cy="58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00" b="0" i="0" dirty="0">
                <a:solidFill>
                  <a:srgbClr val="202124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예선 기획서</a:t>
            </a:r>
            <a:endParaRPr lang="en-US" altLang="ko-KR" sz="2800" b="0" i="0" dirty="0">
              <a:solidFill>
                <a:srgbClr val="202124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4D7D1-0B19-F66A-84F8-B80017D8A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165CAD0-2A02-5E29-8536-ED2B3C3375B1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CB1259FB-3BC9-1F76-5145-01C9E5C371CD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D7ADD4E6-F6E8-97A3-9EA6-04E64C9E771E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– 1.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정의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(Problem Definition)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A7330DB1-95E4-4D38-F6A4-9BB98AC14BD1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48CD7EDD-FD6F-B8B4-97AA-853BC09F0B0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FD4C6A3-A7FF-DCE0-30BE-4532F9F20CD2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20991-1956-8C13-7614-0AE6FD9B9483}"/>
              </a:ext>
            </a:extLst>
          </p:cNvPr>
          <p:cNvSpPr txBox="1"/>
          <p:nvPr/>
        </p:nvSpPr>
        <p:spPr>
          <a:xfrm>
            <a:off x="939332" y="1189703"/>
            <a:ext cx="31953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1. </a:t>
            </a:r>
            <a:r>
              <a:rPr lang="ko-KR" altLang="en-US" dirty="0">
                <a:latin typeface="+mj-ea"/>
                <a:ea typeface="+mj-ea"/>
              </a:rPr>
              <a:t>문제 정의 </a:t>
            </a:r>
            <a:r>
              <a:rPr lang="en-US" altLang="ko-KR" dirty="0">
                <a:latin typeface="+mj-ea"/>
                <a:ea typeface="+mj-ea"/>
              </a:rPr>
              <a:t>(Problem Definition)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38DA6E6D-E7BA-305C-C09E-8185DC296499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E1A0B1D-D56D-F247-A463-80FCAC8780BB}"/>
              </a:ext>
            </a:extLst>
          </p:cNvPr>
          <p:cNvSpPr txBox="1"/>
          <p:nvPr/>
        </p:nvSpPr>
        <p:spPr>
          <a:xfrm>
            <a:off x="2664541" y="1957156"/>
            <a:ext cx="754134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defRPr sz="900" b="1">
                <a:solidFill>
                  <a:srgbClr val="333333"/>
                </a:solidFill>
              </a:defRPr>
            </a:pPr>
            <a:r>
              <a:t>■ 문제: 데이터가 안 쌓인다 — 그래서 분석도 추적도 안 된다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>
                <a:solidFill>
                  <a:srgbClr val="333333"/>
                </a:solidFill>
              </a:defRPr>
            </a:pPr>
            <a:r>
              <a:t>중소 제조 현장의 품질 관리는 여전히 사람에게 의존합니다.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작업자가 눈으로 검사하고, 수기로 기록하고, 엑셀에 입력합니다.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>
                <a:solidFill>
                  <a:srgbClr val="333333"/>
                </a:solidFill>
              </a:defRPr>
            </a:pPr>
            <a:r>
              <a:t>• 문제 1: 검사 데이터가 부정확하거나 안 쌓인다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작업자가 바쁘면 기록을 건너뛰고, 시간을 대충 적습니다.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"몇 시에 불량이 급증했는가?"라는 질문에 답할 수 없습니다.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(실제 제조 현장 인터뷰 — JPC 구매부)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>
                <a:solidFill>
                  <a:srgbClr val="333333"/>
                </a:solidFill>
              </a:defRPr>
            </a:pPr>
            <a:r>
              <a:t>• 문제 2: 불량이 반복되는데 원인을 모른다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불량 시점의 공정 조건이 기록과 연결되지 않아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같은 불량이 매주 반복되어도 원인 분석이 불가능합니다.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>
                <a:solidFill>
                  <a:srgbClr val="333333"/>
                </a:solidFill>
              </a:defRPr>
            </a:pPr>
            <a:r>
              <a:t>• 문제 3: AI가 필요한 건 알지만 도입 못 한다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중소 제조기업 80%가 AI 필요성을 체감하나 (중기중앙회, 2026),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AI 비전 도입의 77%가 파일럿 단계에서 멈춤 (ABI Research, 2026).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이유: 산업용 카메라, 조명, GPU 서버 등 초기 투자 비용 부담.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 b="1">
                <a:solidFill>
                  <a:srgbClr val="333333"/>
                </a:solidFill>
              </a:defRPr>
            </a:pPr>
            <a:r>
              <a:t>■ 핵심 KPI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• 품질 데이터 자동 수집률: 0% → 100% (사람 입력 제거)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• 불량 원인 추적 시간: 수일(수작업) → 실시간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• 도입 비용: 산업용 장비 수천만원 → 웹캠 + 일반 PC</a:t>
            </a:r>
          </a:p>
        </p:txBody>
      </p:sp>
      <p:sp>
        <p:nvSpPr>
          <p:cNvPr id="12" name="Google Shape;100;p2">
            <a:extLst>
              <a:ext uri="{FF2B5EF4-FFF2-40B4-BE49-F238E27FC236}">
                <a16:creationId xmlns:a16="http://schemas.microsoft.com/office/drawing/2014/main" id="{A89DAF47-A872-25DE-4F4E-6A35741F0D64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6BEB92B5-54A5-698D-BCC7-53FCC2DB53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699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2F5F4-E7D0-4278-C766-155380990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157C7AA-BAD1-48B2-65BB-AD464A54796A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250B76DD-037A-6065-6C19-E692AEE22FB0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FDA78D37-3108-EE7F-CB8F-3A968C425896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– 2.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 솔루션 개요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(Solution Overview)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37E35A3E-9640-A8FF-B4C4-60FCEC535100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AD104C8F-EA2D-31A6-F3F6-3F686D73F39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9CE2AEF5-243D-D469-B364-EE0084AAA103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278FF-57A0-7C3A-21B2-B56318A47152}"/>
              </a:ext>
            </a:extLst>
          </p:cNvPr>
          <p:cNvSpPr txBox="1"/>
          <p:nvPr/>
        </p:nvSpPr>
        <p:spPr>
          <a:xfrm>
            <a:off x="939333" y="1189703"/>
            <a:ext cx="35531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2. </a:t>
            </a:r>
            <a:r>
              <a:rPr lang="ko-KR" altLang="en-US" dirty="0">
                <a:latin typeface="+mj-ea"/>
                <a:ea typeface="+mj-ea"/>
              </a:rPr>
              <a:t>제안 솔루션 개요 </a:t>
            </a:r>
            <a:r>
              <a:rPr lang="en-US" altLang="ko-KR" dirty="0">
                <a:latin typeface="+mj-ea"/>
                <a:ea typeface="+mj-ea"/>
              </a:rPr>
              <a:t>(Solution Overview)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A1628004-1AB5-0077-6D18-66ED08E03B10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D384030-AD97-CF1C-87BF-7D94D6FE4AED}"/>
              </a:ext>
            </a:extLst>
          </p:cNvPr>
          <p:cNvSpPr txBox="1"/>
          <p:nvPr/>
        </p:nvSpPr>
        <p:spPr>
          <a:xfrm>
            <a:off x="2664541" y="1957156"/>
            <a:ext cx="754134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defRPr sz="900" b="1">
                <a:solidFill>
                  <a:srgbClr val="333333"/>
                </a:solidFill>
              </a:defRPr>
            </a:pPr>
            <a:r>
              <a:t>■ FactoryMind — 카메라가 검사하고, 시간을 기록하고, 원인을 찾는다</a:t>
            </a:r>
            <a:endParaRPr lang="en-US" altLang="ko-KR" sz="1400" b="1" dirty="0">
              <a:solidFill>
                <a:srgbClr val="3C7CDE"/>
              </a:solidFill>
            </a:endParaRP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>
                <a:solidFill>
                  <a:srgbClr val="333333"/>
                </a:solidFill>
              </a:defRPr>
            </a:pPr>
            <a:r>
              <a:t>사람이 입력하는 것이 하나도 없는 품질 관리 시스템입니다.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>
                <a:solidFill>
                  <a:srgbClr val="333333"/>
                </a:solidFill>
              </a:defRPr>
            </a:pPr>
            <a:r>
              <a:t>라인에 카메라를 설치하면,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AI가 제품을 검사하고 → 불량을 자동 기록하고 →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그 시점의 공정 조건과 연결하여 원인을 추적하고 →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어떻게 조치해야 하는지 알려줍니다.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 b="1">
                <a:solidFill>
                  <a:srgbClr val="333333"/>
                </a:solidFill>
              </a:defRPr>
            </a:pPr>
            <a:r>
              <a:t>■ 왜 이게 핵심인가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>
                <a:solidFill>
                  <a:srgbClr val="333333"/>
                </a:solidFill>
              </a:defRPr>
            </a:pPr>
            <a:r>
              <a:t>기존 스마트공장 솔루션은 '분석 도구'를 제공합니다.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하지만 현장의 진짜 문제는 분석할 데이터가 없다는 것입니다.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FactoryMind는 분석 도구가 아니라 '데이터 생성 엔진'입니다.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 b="1">
                <a:solidFill>
                  <a:srgbClr val="333333"/>
                </a:solidFill>
              </a:defRPr>
            </a:pPr>
            <a:r>
              <a:t>■ 2026년 제조 AI 핵심 트렌드와의 부합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>
                <a:solidFill>
                  <a:srgbClr val="333333"/>
                </a:solidFill>
              </a:defRPr>
            </a:pPr>
            <a:r>
              <a:t>① Predictive Quality — 불량을 잡는 것을 넘어 예측하고 예방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단순 탐지가 아닌, 원인을 추적하여 재발을 방지합니다.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>
                <a:solidFill>
                  <a:srgbClr val="333333"/>
                </a:solidFill>
              </a:defRPr>
            </a:pPr>
            <a:r>
              <a:t>② 인과 분석(Causal AI) — 상관관계가 아닌 진짜 원인 추적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"온도가 올라갈 때 불량이 많다"가 아니라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"금형 온도 85°C 초과가 크랙의 원인이다"를 판별합니다.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>
                <a:solidFill>
                  <a:srgbClr val="333333"/>
                </a:solidFill>
              </a:defRPr>
            </a:pPr>
            <a:r>
              <a:t>③ 저비용 진입 — 이빨이 없으면 잇몸으로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웹캠 + 경량 AI 모델(YOLO v8n)로 시작 가능합니다.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값비싼 산업용 장비 없이도 품질 AI를 도입할 수 있습니다.</a:t>
            </a: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67E78191-AC7B-4431-6348-9F9503FA34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B25F51EC-3983-E3FC-5475-1180B8764FD0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027285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7D086-7FAD-83A2-673F-CD401C76F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822BAF9-7DA8-2CEB-0389-8E3F6CFC4B2D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AF58BFF4-5D90-B7BB-A5FB-15DD1784476A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B3D6440B-E8F0-1E73-E5FF-72737DFD9199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– 3.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기능 정의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(Key Features)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CBEF9D9D-82FE-E102-BEBE-5DB9646F8C7D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9F24ED86-00F9-D00A-872B-AD59A51EEFD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AD1E7A96-4C68-6800-DC19-6EFB0D02D277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A7EE83-FB83-19B0-F1B4-CECFF9D828FF}"/>
              </a:ext>
            </a:extLst>
          </p:cNvPr>
          <p:cNvSpPr txBox="1"/>
          <p:nvPr/>
        </p:nvSpPr>
        <p:spPr>
          <a:xfrm>
            <a:off x="939333" y="1189703"/>
            <a:ext cx="3433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3. </a:t>
            </a:r>
            <a:r>
              <a:rPr lang="ko-KR" altLang="en-US" dirty="0">
                <a:latin typeface="+mj-ea"/>
                <a:ea typeface="+mj-ea"/>
              </a:rPr>
              <a:t>주요 기능 정의 </a:t>
            </a:r>
            <a:r>
              <a:rPr lang="en-US" altLang="ko-KR" dirty="0">
                <a:latin typeface="+mj-ea"/>
                <a:ea typeface="+mj-ea"/>
              </a:rPr>
              <a:t>(Key Features)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DB46F3FE-8810-F742-96B1-76FE8CAEE9B6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B2C9FDC-589C-024C-4DAF-8D28BA7962EF}"/>
              </a:ext>
            </a:extLst>
          </p:cNvPr>
          <p:cNvSpPr txBox="1"/>
          <p:nvPr/>
        </p:nvSpPr>
        <p:spPr>
          <a:xfrm>
            <a:off x="2664541" y="1957156"/>
            <a:ext cx="754134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defRPr sz="900" b="1">
                <a:solidFill>
                  <a:srgbClr val="333333"/>
                </a:solidFill>
              </a:defRPr>
            </a:pPr>
            <a:r>
              <a:t>■ 주요 기능</a:t>
            </a:r>
            <a:endParaRPr lang="en-US" altLang="ko-KR" sz="1400" b="1" dirty="0">
              <a:solidFill>
                <a:srgbClr val="3C7CDE"/>
              </a:solidFill>
            </a:endParaRP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>
                <a:solidFill>
                  <a:srgbClr val="333333"/>
                </a:solidFill>
              </a:defRPr>
            </a:pPr>
            <a:r>
              <a:t>기능 1. 저비용 비전 기반 자동 검사 + 자동 기록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웹캠 또는 저가 산업용 카메라로 제품 외관 촬영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경량 AI 모델(YOLO v8n)이 양품/불량 판정 + 불량 유형 분류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연기, 진동, 소음이 있는 열악한 환경에서도 동작 검증 완료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  (팀원 실제 경험: 음식점 주방 환경에서 YOLO v8n + 일반 카메라 성공)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검사 결과 + 타임스탬프 자동 적재 — 사람 입력 0건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>
                <a:solidFill>
                  <a:srgbClr val="333333"/>
                </a:solidFill>
              </a:defRPr>
            </a:pPr>
            <a:r>
              <a:t>기능 2. 정확한 시계열 품질 추적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"오늘 몇 시에 불량이 급증했는가?" 즉시 확인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시간대별·유형별·라인별 불량률 추이 자동 생성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교대조별 품질 비교, 요일/시간 패턴 분석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타임스탬프가 정확하므로 공정 조건과 1:1 매칭 가능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>
                <a:solidFill>
                  <a:srgbClr val="333333"/>
                </a:solidFill>
              </a:defRPr>
            </a:pPr>
            <a:r>
              <a:t>기능 3. 불량 원인 자동 추적 (인과 분석)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불량 급증 시점의 공정 파라미터 자동 조회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다변수 복합 상호작용 분석 (온도+압력+속도 조합 효과)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SHAP 기반 설명 가능 AI로 핵심 원인 변수 특정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"상관관계"가 아닌 "인과관계" 추적 → 반복 불량 방지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>
                <a:solidFill>
                  <a:srgbClr val="333333"/>
                </a:solidFill>
              </a:defRPr>
            </a:pPr>
            <a:r>
              <a:t>기능 4. 조치 가이드 + 이력 관리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불량 유형별 표준 조치 방법 자동 안내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과거 유사 사례 및 해결 이력 검색 제공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전체 품질 이력 자동 축적 → 감사/인증 즉시 대응</a:t>
            </a: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65C56526-1A7E-EE3B-1FB2-69A678931E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F184EC9F-8B26-D1F2-0ED1-8EC31B8C41EE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579705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486CC-5FEA-6E0F-6607-8B8860B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0319987-BCA9-9ED0-C4BE-D430B5A78B71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0A304978-B91A-D0F9-08E5-E6BCC204DD04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EED7841F-3F32-3698-0915-523541292295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및 기술 활용 계획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(Data &amp; Tech Plan)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21B79617-C1F0-52D3-B070-B0E157FFF20E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E96B855B-7B6A-B904-E1A4-9B512CAD7D8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E28D85C7-9402-2E2D-12C4-AE1F84F09912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5A748C-1CE4-5657-178F-716B4A80432A}"/>
              </a:ext>
            </a:extLst>
          </p:cNvPr>
          <p:cNvSpPr txBox="1"/>
          <p:nvPr/>
        </p:nvSpPr>
        <p:spPr>
          <a:xfrm>
            <a:off x="939332" y="1189703"/>
            <a:ext cx="40699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4. </a:t>
            </a:r>
            <a:r>
              <a:rPr lang="ko-KR" altLang="en-US" dirty="0">
                <a:latin typeface="+mj-ea"/>
                <a:ea typeface="+mj-ea"/>
              </a:rPr>
              <a:t>데이터 및 기술 활용 계획 </a:t>
            </a:r>
            <a:r>
              <a:rPr lang="en-US" altLang="ko-KR" dirty="0">
                <a:latin typeface="+mj-ea"/>
                <a:ea typeface="+mj-ea"/>
              </a:rPr>
              <a:t>(Data &amp; Tech Plan)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74598198-5F31-F6FA-47DC-AA9059C06E01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14FC7CE-8E2B-C5DE-8F36-06CC621A459E}"/>
              </a:ext>
            </a:extLst>
          </p:cNvPr>
          <p:cNvSpPr txBox="1"/>
          <p:nvPr/>
        </p:nvSpPr>
        <p:spPr>
          <a:xfrm>
            <a:off x="2664541" y="1957156"/>
            <a:ext cx="7541342" cy="16004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defRPr sz="800" b="1">
                <a:solidFill>
                  <a:srgbClr val="333333"/>
                </a:solidFill>
              </a:defRPr>
            </a:pPr>
            <a:r>
              <a:t>■ 활용 데이터</a:t>
            </a:r>
            <a:endParaRPr lang="en-US" altLang="ko-KR" sz="1400" b="1" dirty="0">
              <a:solidFill>
                <a:srgbClr val="3C7CDE"/>
              </a:solidFill>
            </a:endParaRPr>
          </a:p>
          <a:p>
            <a:pPr>
              <a:defRPr sz="800">
                <a:solidFill>
                  <a:srgbClr val="333333"/>
                </a:solidFill>
              </a:defRPr>
            </a:pPr>
          </a:p>
          <a:p>
            <a:pPr>
              <a:defRPr sz="800">
                <a:solidFill>
                  <a:srgbClr val="333333"/>
                </a:solidFill>
              </a:defRPr>
            </a:pPr>
            <a:r>
              <a:t>[비전 검사 모델 학습용]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• MVTec AD: 15종 산업 제품 외관 결함 (5,354장) — 이상 탐지 벤치마크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• Casting Defect: 주조 불량 이미지 (7,348장) — 양품/불량 분류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• NEU Surface Defect: 강판 표면 결함 6종 (1,800장) — 유형 분류</a:t>
            </a:r>
          </a:p>
          <a:p>
            <a:pPr>
              <a:defRPr sz="800">
                <a:solidFill>
                  <a:srgbClr val="333333"/>
                </a:solidFill>
              </a:defRPr>
            </a:pPr>
          </a:p>
          <a:p>
            <a:pPr>
              <a:defRPr sz="800">
                <a:solidFill>
                  <a:srgbClr val="333333"/>
                </a:solidFill>
              </a:defRPr>
            </a:pPr>
            <a:r>
              <a:t>[공정-불량 인과 분석용]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• SECOM: 반도체 공정 센서 590개 + 불량 라벨 (1,567 rows)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• 시뮬레이션 데이터: 온도/압력/속도 복합 상호작용 합성 데이터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  (데이콘 스마트물류 대회와 유사한 시뮬레이션 기반 검증 방식 채택)</a:t>
            </a:r>
          </a:p>
          <a:p>
            <a:pPr>
              <a:defRPr sz="800">
                <a:solidFill>
                  <a:srgbClr val="333333"/>
                </a:solidFill>
              </a:defRPr>
            </a:pPr>
          </a:p>
          <a:p>
            <a:pPr>
              <a:defRPr sz="800" b="1">
                <a:solidFill>
                  <a:srgbClr val="333333"/>
                </a:solidFill>
              </a:defRPr>
            </a:pPr>
            <a:r>
              <a:t>■ 기술 구성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• 결함 탐지: YOLO v8n (경량, 엣지 디바이스 동작 가능)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  + PatchCore (양품 학습 기반 이상 탐지 — 제품 도면 불필요)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• 인과 분석: SHAP + 다변수 상호작용 분석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• Backend: FastAPI + PostgreSQL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• Frontend: Streamlit + Plotly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• Infra: Docker Compose (설치 일체화)</a:t>
            </a:r>
          </a:p>
          <a:p>
            <a:pPr>
              <a:defRPr sz="800">
                <a:solidFill>
                  <a:srgbClr val="333333"/>
                </a:solidFill>
              </a:defRPr>
            </a:pPr>
          </a:p>
          <a:p>
            <a:pPr>
              <a:defRPr sz="800" b="1">
                <a:solidFill>
                  <a:srgbClr val="333333"/>
                </a:solidFill>
              </a:defRPr>
            </a:pPr>
            <a:r>
              <a:t>■ 하드웨어 요구사항 — 최소 사양으로 동작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• 카메라: 웹캠 또는 저가 USB 카메라 (3~10만원)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• PC: 일반 사무용 PC (GPU 없어도 YOLO v8n 추론 가능)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• 네트워크: 폐쇄망 설치 가능 (Docker 온프레미스, 외부 통신 불필요)</a:t>
            </a:r>
          </a:p>
          <a:p>
            <a:pPr>
              <a:defRPr sz="800">
                <a:solidFill>
                  <a:srgbClr val="333333"/>
                </a:solidFill>
              </a:defRPr>
            </a:pPr>
          </a:p>
          <a:p>
            <a:pPr>
              <a:defRPr sz="800" b="1">
                <a:solidFill>
                  <a:srgbClr val="333333"/>
                </a:solidFill>
              </a:defRPr>
            </a:pPr>
            <a:r>
              <a:t>■ 2026 정부 스마트 제조혁신 AI트랙 방향과 부합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• 중소제조업 대상 온디바이스 AI, 공정 최적화 지원 (154.5억원, 150개사)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• 기존 스마트팩토리 → AI 팩토리 업그레이드 정책에 부합</a:t>
            </a: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C3D6C61D-BBDC-1167-190C-BD4CD9BF21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A5283CA2-90DA-09BA-1082-399479A662C8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383210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C5F2F-DE76-5319-E068-14743C84C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9AE7259-26F0-06A2-EAF0-0D348222D14B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084726C7-DE11-80A0-7DC0-A7AA122EF941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4C676688-A4F9-28A5-585E-15C4791A36ED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시나리오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ko-KR" altLang="en-US" sz="13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유즈케이스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(User Case)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9FEEE123-BAF0-A0FD-15FF-1DB31311C4F2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FD89DB19-FF6A-0CDA-AF62-F36E28F99C4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1C89922-1506-2D6C-C1C7-A35B619FBB4A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03726A74-16E1-92E8-6C23-4217F6189B6D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BE20A8A-50DC-1699-36DC-DE2652FD7726}"/>
              </a:ext>
            </a:extLst>
          </p:cNvPr>
          <p:cNvSpPr txBox="1"/>
          <p:nvPr/>
        </p:nvSpPr>
        <p:spPr>
          <a:xfrm>
            <a:off x="2664541" y="1957156"/>
            <a:ext cx="7541342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defRPr sz="900" b="1">
                <a:solidFill>
                  <a:srgbClr val="333333"/>
                </a:solidFill>
              </a:defRPr>
            </a:pPr>
            <a:r>
              <a:t>■ 주요 사용자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① 품질 관리자 — 불량 현황 모니터링, 원인 파악, 개선 지시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② 라인 작업자 — 불량 발생 시 즉시 알림, 현장 조치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③ 공장장 — 일일/주간 품질 리포트, 의사결정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 b="1">
                <a:solidFill>
                  <a:srgbClr val="333333"/>
                </a:solidFill>
              </a:defRPr>
            </a:pPr>
            <a:r>
              <a:t>■ 시나리오: "A라인 오전, 기존 방식 vs FactoryMind"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>
                <a:solidFill>
                  <a:srgbClr val="333333"/>
                </a:solidFill>
              </a:defRPr>
            </a:pPr>
            <a:r>
              <a:t>[기존 — 사람이 보고 사람이 적는다]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09:47  작업자가 불량품 발견 → 수기 기록 (시간 부정확)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12:00  점심시간에 기록 누락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15:00  품질 관리자가 엑셀 확인 → 데이터 빠져있음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15:30  "오전에 불량 많았다는데 몇 시부터인지 모르겠다"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→ 원인 추적 불가, 같은 불량 내일도 반복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>
                <a:solidFill>
                  <a:srgbClr val="333333"/>
                </a:solidFill>
              </a:defRPr>
            </a:pPr>
            <a:r>
              <a:t>[FactoryMind — 카메라가 보고 AI가 적는다]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09:00  라인 가동 → 웹캠이 매 제품 자동 촬영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09:42  크랙 불량 3건/10분 감지 → 알림 자동 발생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       "A라인 09:42부터 크랙 급증"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       "금형 온도 86°C — 정상 범위(70~80°C) 초과"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       "온도+압력 복합 효과 — 크랙 기여도 73%"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09:44  작업자가 금형 온도 조정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09:55  불량률 정상 복귀 — 전체 과정 자동 기록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 b="1">
                <a:solidFill>
                  <a:srgbClr val="333333"/>
                </a:solidFill>
              </a:defRPr>
            </a:pPr>
            <a:r>
              <a:t>■ 차이: 데이터가 알아서 쌓이니까 추적이 된다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감지 → 원인 특정 → 조치까지 2분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B6FD35-8911-88CB-877F-E612391C583D}"/>
              </a:ext>
            </a:extLst>
          </p:cNvPr>
          <p:cNvSpPr txBox="1"/>
          <p:nvPr/>
        </p:nvSpPr>
        <p:spPr>
          <a:xfrm>
            <a:off x="939333" y="1189703"/>
            <a:ext cx="42190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5. </a:t>
            </a:r>
            <a:r>
              <a:rPr lang="ko-KR" altLang="en-US" dirty="0">
                <a:latin typeface="+mj-ea"/>
                <a:ea typeface="+mj-ea"/>
              </a:rPr>
              <a:t>사용자 시나리오</a:t>
            </a:r>
            <a:r>
              <a:rPr lang="en-US" altLang="ko-KR" dirty="0">
                <a:latin typeface="+mj-ea"/>
                <a:ea typeface="+mj-ea"/>
              </a:rPr>
              <a:t>/</a:t>
            </a:r>
            <a:r>
              <a:rPr lang="ko-KR" altLang="en-US" dirty="0" err="1">
                <a:latin typeface="+mj-ea"/>
                <a:ea typeface="+mj-ea"/>
              </a:rPr>
              <a:t>유즈케이스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(User Case)</a:t>
            </a:r>
            <a:endParaRPr lang="ko-KR" altLang="en-US" dirty="0">
              <a:latin typeface="+mj-ea"/>
              <a:ea typeface="+mj-ea"/>
            </a:endParaRP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05126979-E795-B5FD-2861-875755BE23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0AF01168-01B8-DC74-BCBE-D88540B8F2E5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018710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5E8FC-AF2C-579B-9590-CBF085597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09914A8-02ED-C312-A18A-F0400EE2D348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5AB79AF0-60D8-DAFD-ADA5-DCB0D1EDF471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16B1A2F3-666A-22BB-FF71-0DD83ECC923A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6.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구현 범위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(MVP Scope)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89685848-AB8F-A36C-25D5-DC70B40222BD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34A7F8E4-A3AF-3E82-0313-AEF582DA229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97705F4-E4B5-B067-FB20-9054BFFE100D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DE9DE420-DE7B-8768-0FC1-D2BA97FE1AF7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911D661-D63D-C639-8CAF-6774EF15CEBB}"/>
              </a:ext>
            </a:extLst>
          </p:cNvPr>
          <p:cNvSpPr txBox="1"/>
          <p:nvPr/>
        </p:nvSpPr>
        <p:spPr>
          <a:xfrm>
            <a:off x="2664541" y="1957156"/>
            <a:ext cx="7541342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defRPr sz="800" b="1">
                <a:solidFill>
                  <a:srgbClr val="333333"/>
                </a:solidFill>
              </a:defRPr>
            </a:pPr>
            <a:r>
              <a:t>■ MVP 구현 범위</a:t>
            </a:r>
          </a:p>
          <a:p>
            <a:pPr>
              <a:defRPr sz="800">
                <a:solidFill>
                  <a:srgbClr val="333333"/>
                </a:solidFill>
              </a:defRPr>
            </a:pPr>
          </a:p>
          <a:p>
            <a:pPr>
              <a:defRPr sz="800">
                <a:solidFill>
                  <a:srgbClr val="333333"/>
                </a:solidFill>
              </a:defRPr>
            </a:pPr>
            <a:r>
              <a:t>━━ 사전 준비 (예선 통과 ~ 본선 전) ━━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  YOLO v8n 결함 탐지 모델 학습 (Casting + NEU 데이터)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  PatchCore 이상 탐지 모델 구현 (MVTec AD)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  SECOM 기반 공정-불량 인과 분석 파이프라인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  시뮬레이션 공정 센서 데이터 생성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  조치 가이드 지식 베이스 구축</a:t>
            </a:r>
          </a:p>
          <a:p>
            <a:pPr>
              <a:defRPr sz="800">
                <a:solidFill>
                  <a:srgbClr val="333333"/>
                </a:solidFill>
              </a:defRPr>
            </a:pPr>
          </a:p>
          <a:p>
            <a:pPr>
              <a:defRPr sz="800">
                <a:solidFill>
                  <a:srgbClr val="333333"/>
                </a:solidFill>
              </a:defRPr>
            </a:pPr>
            <a:r>
              <a:t>━━ 본선 당일 시연 ━━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  제품 이미지 스트림 → AI 자동 검사 → 양품/불량 실시간 판정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  불량 발생 → 타임스탬프 자동 기록 → 시계열 차트 실시간 갱신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  불량 급증 → 공정 조건 자동 매칭 → 인과 분석 → 원인 변수 표시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  조치 가이드 표시 → 조치 후 불량률 변화 추적</a:t>
            </a:r>
          </a:p>
          <a:p>
            <a:pPr>
              <a:defRPr sz="800">
                <a:solidFill>
                  <a:srgbClr val="333333"/>
                </a:solidFill>
              </a:defRPr>
            </a:pPr>
          </a:p>
          <a:p>
            <a:pPr>
              <a:defRPr sz="800">
                <a:solidFill>
                  <a:srgbClr val="333333"/>
                </a:solidFill>
              </a:defRPr>
            </a:pPr>
            <a:r>
              <a:t>━━ 향후 확장 ━━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  실시간 라인 카메라 직결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  MES/PLC 연동 (Lot 단위 추적)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  치수 검사 (CAD 연동)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  다라인/다공장 통합 관제</a:t>
            </a:r>
          </a:p>
          <a:p>
            <a:pPr>
              <a:defRPr sz="800">
                <a:solidFill>
                  <a:srgbClr val="333333"/>
                </a:solidFill>
              </a:defRPr>
            </a:pPr>
          </a:p>
          <a:p>
            <a:pPr>
              <a:defRPr sz="800" b="1">
                <a:solidFill>
                  <a:srgbClr val="333333"/>
                </a:solidFill>
              </a:defRPr>
            </a:pPr>
            <a:r>
              <a:t>■ 역할 분담</a:t>
            </a:r>
          </a:p>
          <a:p>
            <a:pPr>
              <a:defRPr sz="800">
                <a:solidFill>
                  <a:srgbClr val="333333"/>
                </a:solidFill>
              </a:defRPr>
            </a:pPr>
          </a:p>
          <a:p>
            <a:pPr>
              <a:defRPr sz="800">
                <a:solidFill>
                  <a:srgbClr val="333333"/>
                </a:solidFill>
              </a:defRPr>
            </a:pPr>
            <a:r>
              <a:t>원정환 (Vision Engine + Platform)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  • YOLO v8n 모델 학습 + 추론 파이프라인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    (열악한 환경 실전 경험: 연기/진동/소음 속 객체 탐지 검증)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  • PatchCore 이상 탐지 모델 구현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  • Streamlit 대시보드 + Docker Compose 시연 환경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    (FastAPI+Streamlit+DB 오케스트레이션 경험 보유)</a:t>
            </a:r>
          </a:p>
          <a:p>
            <a:pPr>
              <a:defRPr sz="800">
                <a:solidFill>
                  <a:srgbClr val="333333"/>
                </a:solidFill>
              </a:defRPr>
            </a:pPr>
          </a:p>
          <a:p>
            <a:pPr>
              <a:defRPr sz="800">
                <a:solidFill>
                  <a:srgbClr val="333333"/>
                </a:solidFill>
              </a:defRPr>
            </a:pPr>
            <a:r>
              <a:t>소지민 (Data Intelligence + Root Cause)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  • 공정 파라미터-불량 인과 분석 (다변수 SHAP)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  • 시계열 품질 추적 파이프라인 (자동 집계/알림)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  • 조치 가이드 지식 베이스 + 품질 리포트 생성</a:t>
            </a:r>
          </a:p>
          <a:p>
            <a:pPr>
              <a:defRPr sz="800">
                <a:solidFill>
                  <a:srgbClr val="333333"/>
                </a:solidFill>
              </a:defRPr>
            </a:pPr>
            <a:r>
              <a:t>  • 데이터 통합 (비전 결과 + 센서 데이터 시간 기반 조인)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120F58-8315-85C3-52C9-14AFDA96469F}"/>
              </a:ext>
            </a:extLst>
          </p:cNvPr>
          <p:cNvSpPr txBox="1"/>
          <p:nvPr/>
        </p:nvSpPr>
        <p:spPr>
          <a:xfrm>
            <a:off x="939333" y="1189703"/>
            <a:ext cx="42190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6.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MVP </a:t>
            </a:r>
            <a:r>
              <a:rPr lang="ko-KR" altLang="en-US" dirty="0">
                <a:latin typeface="+mj-ea"/>
                <a:ea typeface="+mj-ea"/>
              </a:rPr>
              <a:t>구현 범위</a:t>
            </a:r>
            <a:r>
              <a:rPr lang="en-US" altLang="ko-KR" dirty="0">
                <a:latin typeface="+mj-ea"/>
                <a:ea typeface="+mj-ea"/>
              </a:rPr>
              <a:t>(MVP Scope)</a:t>
            </a:r>
            <a:endParaRPr lang="ko-KR" altLang="en-US" dirty="0">
              <a:latin typeface="+mj-ea"/>
              <a:ea typeface="+mj-ea"/>
            </a:endParaRP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01E17689-E744-2C0D-412D-DE9C1722A6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926036DA-B835-FA25-3FC1-05D1768A0924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848951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F9DE8-42A8-681C-5E1B-73196E0C9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3B9D12E-1495-9345-B5C1-6CA487351340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662CCC3A-67D3-9E2D-ED85-F4ACDA9881F3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10197046-830B-49AC-2A1E-DDD714EA3942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7.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 효과 및 향후 확장성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(Expected Impact)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648C386E-E25E-A7E0-794C-23D5AC7A5576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DEF02F1E-697C-7F56-95DC-71E50216EDF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BDBA01F2-CD0A-EE54-FD1F-D2390E85F862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C5544C-80B5-F11D-247F-B4A6731ECC76}"/>
              </a:ext>
            </a:extLst>
          </p:cNvPr>
          <p:cNvSpPr txBox="1"/>
          <p:nvPr/>
        </p:nvSpPr>
        <p:spPr>
          <a:xfrm>
            <a:off x="939333" y="1189703"/>
            <a:ext cx="43085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7. </a:t>
            </a:r>
            <a:r>
              <a:rPr lang="ko-KR" altLang="en-US" dirty="0">
                <a:latin typeface="+mj-ea"/>
                <a:ea typeface="+mj-ea"/>
              </a:rPr>
              <a:t>기대 효과 및 향후 확장성 </a:t>
            </a:r>
            <a:r>
              <a:rPr lang="en-US" altLang="ko-KR" dirty="0">
                <a:latin typeface="+mj-ea"/>
                <a:ea typeface="+mj-ea"/>
              </a:rPr>
              <a:t>(Expected Impact)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F9243552-6E4F-42E8-93DC-3EB0B30CBB04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CBA99FA-B21D-F75D-948E-7068D40928E0}"/>
              </a:ext>
            </a:extLst>
          </p:cNvPr>
          <p:cNvSpPr txBox="1"/>
          <p:nvPr/>
        </p:nvSpPr>
        <p:spPr>
          <a:xfrm>
            <a:off x="2664541" y="1957156"/>
            <a:ext cx="754134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defRPr sz="900" b="1">
                <a:solidFill>
                  <a:srgbClr val="333333"/>
                </a:solidFill>
              </a:defRPr>
            </a:pPr>
            <a:r>
              <a:t>■ 도입 효과</a:t>
            </a:r>
            <a:endParaRPr lang="en-US" altLang="ko-KR" sz="1400" b="1" dirty="0">
              <a:solidFill>
                <a:srgbClr val="3C7CDE"/>
              </a:solidFill>
            </a:endParaRP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>
                <a:solidFill>
                  <a:srgbClr val="333333"/>
                </a:solidFill>
              </a:defRPr>
            </a:pPr>
            <a:r>
              <a:t>1. 인력난을 해결한다 (제조업 AI 도입 기대효과 1위, 40%)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육안 검사 → AI 자동 검사 (탐지율 70% → 95%)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숙련 검사원 은퇴해도 품질 유지 — 판정 기준이 AI에 저장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3교대 검사원 → 1인 모니터링으로 전환 가능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>
                <a:solidFill>
                  <a:srgbClr val="333333"/>
                </a:solidFill>
              </a:defRPr>
            </a:pPr>
            <a:r>
              <a:t>2. 데이터가 알아서 쌓인다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수기 기록 → 카메라 자동 기록 (수집률 0% → 100%)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정확한 타임스탬프 → 시계열 분석 가능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감사/인증 시 품질 이력 즉시 제출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>
                <a:solidFill>
                  <a:srgbClr val="333333"/>
                </a:solidFill>
              </a:defRPr>
            </a:pPr>
            <a:r>
              <a:t>3. 불량 원인을 알 수 있다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불량 시점 + 공정 조건 자동 매칭 → 인과 분석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반복 불량 50% 감소 목표 (원인 기반 조치)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>
                <a:solidFill>
                  <a:srgbClr val="333333"/>
                </a:solidFill>
              </a:defRPr>
            </a:pPr>
            <a:r>
              <a:t>4. 이빨이 없어도 잇몸으로 시작할 수 있다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웹캠(3만원) + 일반 PC면 도입 가능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양품 이미지 100장이면 학습 시작 (제품 도면 불필요)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폐쇄망 Docker 설치 — 보안 걱정 없음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AI 비전 도입의 77%가 파일럿에서 멈추는 이유(비용)를 제거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 b="1">
                <a:solidFill>
                  <a:srgbClr val="333333"/>
                </a:solidFill>
              </a:defRPr>
            </a:pPr>
            <a:r>
              <a:t>■ 정책 연계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2026 스마트 제조혁신 AI트랙 (154.5억원, 150개 중소기업)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기존 스마트팩토리 → AI 팩토리 업그레이드 정책과 부합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 b="1">
                <a:solidFill>
                  <a:srgbClr val="333333"/>
                </a:solidFill>
              </a:defRPr>
            </a:pPr>
            <a:r>
              <a:t>■ 확장 방향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치수 검사(CAD 연동) → MES 연동 → 다공장 관제 → 디지털 트윈</a:t>
            </a:r>
          </a:p>
        </p:txBody>
      </p:sp>
      <p:pic>
        <p:nvPicPr>
          <p:cNvPr id="13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8749BE17-5128-AC43-85F8-6B97395030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100;p2">
            <a:extLst>
              <a:ext uri="{FF2B5EF4-FFF2-40B4-BE49-F238E27FC236}">
                <a16:creationId xmlns:a16="http://schemas.microsoft.com/office/drawing/2014/main" id="{FD31846E-1545-CCE0-0B44-9A65BC1534A7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414306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446</Words>
  <Application>Microsoft Macintosh PowerPoint</Application>
  <PresentationFormat>와이드스크린</PresentationFormat>
  <Paragraphs>66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Malgun Gothic</vt:lpstr>
      <vt:lpstr>Malgun Gothic</vt:lpstr>
      <vt:lpstr>Pretendard_KR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Dacon io</dc:creator>
  <cp:lastModifiedBy>Dacon io</cp:lastModifiedBy>
  <cp:revision>83</cp:revision>
  <dcterms:created xsi:type="dcterms:W3CDTF">2024-05-21T00:00:56Z</dcterms:created>
  <dcterms:modified xsi:type="dcterms:W3CDTF">2026-04-22T06:04:35Z</dcterms:modified>
</cp:coreProperties>
</file>