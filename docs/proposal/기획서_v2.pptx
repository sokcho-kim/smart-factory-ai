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78" r:id="rId3"/>
    <p:sldId id="279" r:id="rId4"/>
    <p:sldId id="280" r:id="rId5"/>
    <p:sldId id="273" r:id="rId6"/>
    <p:sldId id="281" r:id="rId7"/>
    <p:sldId id="283" r:id="rId8"/>
    <p:sldId id="282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" roundtripDataSignature="AMtx7mihjF2ZWQEcNdCQGL3IzqOLXbA9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1B23"/>
    <a:srgbClr val="3CBF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A43732-219E-4773-AEE6-7331DB972763}">
  <a:tblStyle styleId="{97A43732-219E-4773-AEE6-7331DB972763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833"/>
    <p:restoredTop sz="94648"/>
  </p:normalViewPr>
  <p:slideViewPr>
    <p:cSldViewPr snapToGrid="0">
      <p:cViewPr varScale="1">
        <p:scale>
          <a:sx n="95" d="100"/>
          <a:sy n="95" d="100"/>
        </p:scale>
        <p:origin x="208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2" Type="http://customschemas.google.com/relationships/presentationmetadata" Target="metadata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Google Shape;90;p1"/>
          <p:cNvCxnSpPr/>
          <p:nvPr/>
        </p:nvCxnSpPr>
        <p:spPr>
          <a:xfrm>
            <a:off x="388374" y="6415548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2" name="Google Shape;92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Google Shape;90;p1">
            <a:extLst>
              <a:ext uri="{FF2B5EF4-FFF2-40B4-BE49-F238E27FC236}">
                <a16:creationId xmlns:a16="http://schemas.microsoft.com/office/drawing/2014/main" id="{053CAB3C-01D3-307A-B765-DB89E56FD267}"/>
              </a:ext>
            </a:extLst>
          </p:cNvPr>
          <p:cNvCxnSpPr/>
          <p:nvPr/>
        </p:nvCxnSpPr>
        <p:spPr>
          <a:xfrm>
            <a:off x="388374" y="364575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8" name="Google Shape;88;p1"/>
          <p:cNvSpPr txBox="1"/>
          <p:nvPr/>
        </p:nvSpPr>
        <p:spPr>
          <a:xfrm>
            <a:off x="2631231" y="1570963"/>
            <a:ext cx="6929531" cy="1366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3600" b="1" dirty="0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2026</a:t>
            </a:r>
            <a:r>
              <a:rPr lang="ko-KR" altLang="en-US" sz="3600" b="1" dirty="0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 스마트 공장 운영 시스템 </a:t>
            </a:r>
            <a:r>
              <a:rPr lang="en-US" altLang="ko-KR" sz="3600" b="1" dirty="0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MVP </a:t>
            </a:r>
            <a:r>
              <a:rPr lang="ko-KR" altLang="en-US" sz="3600" b="1" dirty="0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개발 </a:t>
            </a:r>
            <a:r>
              <a:rPr lang="ko-KR" altLang="en-US" sz="3600" b="1" dirty="0" err="1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해커톤</a:t>
            </a:r>
            <a:endParaRPr lang="en-US" altLang="ko-KR" sz="3600" b="1" i="0" dirty="0">
              <a:solidFill>
                <a:srgbClr val="202124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graphicFrame>
        <p:nvGraphicFramePr>
          <p:cNvPr id="89" name="Google Shape;89;p1"/>
          <p:cNvGraphicFramePr/>
          <p:nvPr>
            <p:extLst>
              <p:ext uri="{D42A27DB-BD31-4B8C-83A1-F6EECF244321}">
                <p14:modId xmlns:p14="http://schemas.microsoft.com/office/powerpoint/2010/main" val="259346336"/>
              </p:ext>
            </p:extLst>
          </p:nvPr>
        </p:nvGraphicFramePr>
        <p:xfrm>
          <a:off x="3386675" y="4388003"/>
          <a:ext cx="5418650" cy="899000"/>
        </p:xfrm>
        <a:graphic>
          <a:graphicData uri="http://schemas.openxmlformats.org/drawingml/2006/table">
            <a:tbl>
              <a:tblPr firstRow="1" bandRow="1">
                <a:tableStyleId>{97A43732-219E-4773-AEE6-7331DB972763}</a:tableStyleId>
              </a:tblPr>
              <a:tblGrid>
                <a:gridCol w="270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200"/>
                      </a:pPr>
                      <a:r>
                        <a:rPr lang="ko-KR" sz="1800" u="none" strike="noStrike" cap="none" dirty="0" err="1"/>
                        <a:t>팀명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FactoryMind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200"/>
                      </a:pPr>
                      <a:r>
                        <a:rPr lang="ko-KR" altLang="en-US" sz="1800" u="none" strike="noStrike" cap="none" dirty="0"/>
                        <a:t>프로젝트명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유령 도면 복원 기반 AI 공장 안전 관제 플랫폼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613855372"/>
                  </a:ext>
                </a:extLst>
              </a:tr>
            </a:tbl>
          </a:graphicData>
        </a:graphic>
      </p:graphicFrame>
      <p:cxnSp>
        <p:nvCxnSpPr>
          <p:cNvPr id="94" name="Google Shape;94;p1"/>
          <p:cNvCxnSpPr/>
          <p:nvPr/>
        </p:nvCxnSpPr>
        <p:spPr>
          <a:xfrm>
            <a:off x="2310447" y="2956202"/>
            <a:ext cx="75711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88F6F64B-B445-0E07-4C6D-0A33DC6483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88;p1">
            <a:extLst>
              <a:ext uri="{FF2B5EF4-FFF2-40B4-BE49-F238E27FC236}">
                <a16:creationId xmlns:a16="http://schemas.microsoft.com/office/drawing/2014/main" id="{6EC716A2-5020-43D4-0492-05DB61857621}"/>
              </a:ext>
            </a:extLst>
          </p:cNvPr>
          <p:cNvSpPr txBox="1"/>
          <p:nvPr/>
        </p:nvSpPr>
        <p:spPr>
          <a:xfrm>
            <a:off x="4645453" y="3065537"/>
            <a:ext cx="2901085" cy="58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00" b="0" i="0" dirty="0">
                <a:solidFill>
                  <a:srgbClr val="202124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예선 기획서</a:t>
            </a:r>
            <a:endParaRPr lang="en-US" altLang="ko-KR" sz="2800" b="0" i="0" dirty="0">
              <a:solidFill>
                <a:srgbClr val="202124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4D7D1-0B19-F66A-84F8-B80017D8A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165CAD0-2A02-5E29-8536-ED2B3C3375B1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CB1259FB-3BC9-1F76-5145-01C9E5C371CD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D7ADD4E6-F6E8-97A3-9EA6-04E64C9E771E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– 1.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정의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(Problem Definition)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A7330DB1-95E4-4D38-F6A4-9BB98AC14BD1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48CD7EDD-FD6F-B8B4-97AA-853BC09F0B0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FD4C6A3-A7FF-DCE0-30BE-4532F9F20CD2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20991-1956-8C13-7614-0AE6FD9B9483}"/>
              </a:ext>
            </a:extLst>
          </p:cNvPr>
          <p:cNvSpPr txBox="1"/>
          <p:nvPr/>
        </p:nvSpPr>
        <p:spPr>
          <a:xfrm>
            <a:off x="939332" y="1189703"/>
            <a:ext cx="31953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1. </a:t>
            </a:r>
            <a:r>
              <a:rPr lang="ko-KR" altLang="en-US" dirty="0">
                <a:latin typeface="+mj-ea"/>
                <a:ea typeface="+mj-ea"/>
              </a:rPr>
              <a:t>문제 정의 </a:t>
            </a:r>
            <a:r>
              <a:rPr lang="en-US" altLang="ko-KR" dirty="0">
                <a:latin typeface="+mj-ea"/>
                <a:ea typeface="+mj-ea"/>
              </a:rPr>
              <a:t>(Problem Definition)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38DA6E6D-E7BA-305C-C09E-8185DC296499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E1A0B1D-D56D-F247-A463-80FCAC8780BB}"/>
              </a:ext>
            </a:extLst>
          </p:cNvPr>
          <p:cNvSpPr txBox="1"/>
          <p:nvPr/>
        </p:nvSpPr>
        <p:spPr>
          <a:xfrm>
            <a:off x="2664541" y="1957156"/>
            <a:ext cx="754134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■ 핵심 문제: 도면과 현장이 다르다 — '유령 도면' 문제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제조 현장의 설비 배치도(도면)는 최초 설치 시점에 작성된 후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설비 이동, 증설, 철거, 통로 변경 등이 반영되지 않은 채 방치됩니다.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이렇게 현장과 괴리된 도면을 '유령 도면(Ghost Blueprint)'이라 합니다.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문제 1: 국내 중소 제조업체의 78%가 최신 설비 배치도를 보유하지 않음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(한국산업안전보건공단, 2024 사업장 안전실태조사)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문제 2: 화재/누출 사고 시 대피 경로가 도면과 불일치하여 대응 지연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(2024 화성 배터리 공장 화재 — 도면상 비상구 위치와 실제 불일치 지적)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문제 3: 안전 점검 시 도면 기반 체크리스트가 무의미해지는 악순환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 b="1">
                <a:solidFill>
                  <a:srgbClr val="333333"/>
                </a:solidFill>
              </a:defRPr>
            </a:pPr>
            <a:r>
              <a:t>■ 해결 대상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설비 배치가 수시로 변하는 중소 제조 공장 (100~500인 규모)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도면 관리 인력이 없어 현장-도면 괴리가 누적되는 사업장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 b="1">
                <a:solidFill>
                  <a:srgbClr val="333333"/>
                </a:solidFill>
              </a:defRPr>
            </a:pPr>
            <a:r>
              <a:t>■ 핵심 KPI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도면-현장 일치율: 기존 측정 불가 → 90% 이상 자동 갱신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안전 위반 탐지: 수동 점검(월 1회) → AI 실시간 상시 감시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사고 대응 시간: 현장 파악 47분 → 도면 기반 즉시 확인 (&lt;5분)</a:t>
            </a:r>
          </a:p>
        </p:txBody>
      </p:sp>
      <p:sp>
        <p:nvSpPr>
          <p:cNvPr id="12" name="Google Shape;100;p2">
            <a:extLst>
              <a:ext uri="{FF2B5EF4-FFF2-40B4-BE49-F238E27FC236}">
                <a16:creationId xmlns:a16="http://schemas.microsoft.com/office/drawing/2014/main" id="{A89DAF47-A872-25DE-4F4E-6A35741F0D64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6BEB92B5-54A5-698D-BCC7-53FCC2DB53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699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2F5F4-E7D0-4278-C766-155380990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157C7AA-BAD1-48B2-65BB-AD464A54796A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250B76DD-037A-6065-6C19-E692AEE22FB0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FDA78D37-3108-EE7F-CB8F-3A968C425896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– 2.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 솔루션 개요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(Solution Overview)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37E35A3E-9640-A8FF-B4C4-60FCEC535100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AD104C8F-EA2D-31A6-F3F6-3F686D73F39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9CE2AEF5-243D-D469-B364-EE0084AAA103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278FF-57A0-7C3A-21B2-B56318A47152}"/>
              </a:ext>
            </a:extLst>
          </p:cNvPr>
          <p:cNvSpPr txBox="1"/>
          <p:nvPr/>
        </p:nvSpPr>
        <p:spPr>
          <a:xfrm>
            <a:off x="939333" y="1189703"/>
            <a:ext cx="35531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2. </a:t>
            </a:r>
            <a:r>
              <a:rPr lang="ko-KR" altLang="en-US" dirty="0">
                <a:latin typeface="+mj-ea"/>
                <a:ea typeface="+mj-ea"/>
              </a:rPr>
              <a:t>제안 솔루션 개요 </a:t>
            </a:r>
            <a:r>
              <a:rPr lang="en-US" altLang="ko-KR" dirty="0">
                <a:latin typeface="+mj-ea"/>
                <a:ea typeface="+mj-ea"/>
              </a:rPr>
              <a:t>(Solution Overview)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A1628004-1AB5-0077-6D18-66ED08E03B10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D384030-AD97-CF1C-87BF-7D94D6FE4AED}"/>
              </a:ext>
            </a:extLst>
          </p:cNvPr>
          <p:cNvSpPr txBox="1"/>
          <p:nvPr/>
        </p:nvSpPr>
        <p:spPr>
          <a:xfrm>
            <a:off x="2664541" y="1957156"/>
            <a:ext cx="754134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■ FactoryMind — 죽은 도면을 살리는 AI 안전 관제 플랫폼</a:t>
            </a:r>
            <a:endParaRPr lang="en-US" altLang="ko-KR" sz="1400" b="1" dirty="0">
              <a:solidFill>
                <a:srgbClr val="3C7CDE"/>
              </a:solidFill>
            </a:endParaRP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현장 사진/영상에서 AI가 설비와 장애물을 탐지하고,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기존 도면과 자동 대조하여 차이를 발견하고,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안전 법규 위반 여부까지 판단하는 통합 플랫폼입니다.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 b="1">
                <a:solidFill>
                  <a:srgbClr val="333333"/>
                </a:solidFill>
              </a:defRPr>
            </a:pPr>
            <a:r>
              <a:t>■ 핵심 아이디어: 3단계 자동화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① SEE  — 현장을 본다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 YOLO 기반 Object Detection으로 현장 사진에서 설비/통로/장애물 탐지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② COMPARE — 도면과 비교한다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 탐지된 객체 좌표를 도면 위에 매핑, 변경점(이동/추가/제거) 자동 식별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③ JUDGE — 위험을 판단한다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 산업안전보건법 기반 Graph-RAG로 법규 위반 여부 자동 점검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 (예: "비상구 앞 1.2m 내 장애물 적치 — 산안법 제16조 위반")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 b="1">
                <a:solidFill>
                  <a:srgbClr val="333333"/>
                </a:solidFill>
              </a:defRPr>
            </a:pPr>
            <a:r>
              <a:t>■ 차별점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기존 스마트팩토리는 "센서 데이터 → 예측"에 집중합니다.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FactoryMind는 "공간 데이터 → 안전"이라는 새로운 축을 제시합니다.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센서가 없는 공장도, 카메라 한 대면 시작할 수 있습니다.</a:t>
            </a: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67E78191-AC7B-4431-6348-9F9503FA34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B25F51EC-3983-E3FC-5475-1180B8764FD0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027285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7D086-7FAD-83A2-673F-CD401C76F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822BAF9-7DA8-2CEB-0389-8E3F6CFC4B2D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AF58BFF4-5D90-B7BB-A5FB-15DD1784476A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B3D6440B-E8F0-1E73-E5FF-72737DFD9199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– 3.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기능 정의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(Key Features)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CBEF9D9D-82FE-E102-BEBE-5DB9646F8C7D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9F24ED86-00F9-D00A-872B-AD59A51EEFD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AD1E7A96-4C68-6800-DC19-6EFB0D02D277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A7EE83-FB83-19B0-F1B4-CECFF9D828FF}"/>
              </a:ext>
            </a:extLst>
          </p:cNvPr>
          <p:cNvSpPr txBox="1"/>
          <p:nvPr/>
        </p:nvSpPr>
        <p:spPr>
          <a:xfrm>
            <a:off x="939333" y="1189703"/>
            <a:ext cx="3433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3. </a:t>
            </a:r>
            <a:r>
              <a:rPr lang="ko-KR" altLang="en-US" dirty="0">
                <a:latin typeface="+mj-ea"/>
                <a:ea typeface="+mj-ea"/>
              </a:rPr>
              <a:t>주요 기능 정의 </a:t>
            </a:r>
            <a:r>
              <a:rPr lang="en-US" altLang="ko-KR" dirty="0">
                <a:latin typeface="+mj-ea"/>
                <a:ea typeface="+mj-ea"/>
              </a:rPr>
              <a:t>(Key Features)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DB46F3FE-8810-F742-96B1-76FE8CAEE9B6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B2C9FDC-589C-024C-4DAF-8D28BA7962EF}"/>
              </a:ext>
            </a:extLst>
          </p:cNvPr>
          <p:cNvSpPr txBox="1"/>
          <p:nvPr/>
        </p:nvSpPr>
        <p:spPr>
          <a:xfrm>
            <a:off x="2664541" y="1957156"/>
            <a:ext cx="754134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■ 핵심 기능 5가지</a:t>
            </a:r>
            <a:endParaRPr lang="en-US" altLang="ko-KR" sz="1400" b="1" dirty="0">
              <a:solidFill>
                <a:srgbClr val="3C7CDE"/>
              </a:solidFill>
            </a:endParaRP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기능 1. 현장 객체 탐지 (Vision AI)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• YOLO v11 기반 설비/통로/장애물/소화기/비상구 탐지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• 현장 사진 또는 CCTV 프레임 입력 → 객체 목록 + 좌표 출력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기능 2. 도면 자동 갱신 (Blueprint Sync)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• 탐지된 객체를 기존 도면(SVG/이미지) 위에 오버레이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• 변경점 자동 감지: 신규 설비, 이동된 설비, 제거된 설비, 통로 차단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• 변경 이력 타임라인 관리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기능 3. 안전 법규 자동 점검 (Safety RAG)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• 산업안전보건법, 소방법 등 관련 법규를 Graph-RAG로 구축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• 현장 상태 vs 법규 요건 자동 대조 → 위반 사항 리스트업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• 위반 근거 조문 + 시정 가이드 제공 (예: "통로폭 1.2m → 법정 1.5m")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기능 4. 위험 지도 대시보드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• 도면 위 히트맵으로 위험 구역 시각화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• 설비별/구역별 안전 점수 산정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• 안전 관리자용 일일 리포트 자동 생성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기능 5. 변경점 알림 및 보고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• 현장-도면 괴리 발생 시 즉시 알림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• 안전 점검 보고서 자동 생성 (법정 양식 기반)</a:t>
            </a: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65C56526-1A7E-EE3B-1FB2-69A678931E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F184EC9F-8B26-D1F2-0ED1-8EC31B8C41EE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579705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486CC-5FEA-6E0F-6607-8B8860B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0319987-BCA9-9ED0-C4BE-D430B5A78B71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0A304978-B91A-D0F9-08E5-E6BCC204DD04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EED7841F-3F32-3698-0915-523541292295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및 기술 활용 계획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(Data &amp; Tech Plan)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21B79617-C1F0-52D3-B070-B0E157FFF20E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E96B855B-7B6A-B904-E1A4-9B512CAD7D8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E28D85C7-9402-2E2D-12C4-AE1F84F09912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5A748C-1CE4-5657-178F-716B4A80432A}"/>
              </a:ext>
            </a:extLst>
          </p:cNvPr>
          <p:cNvSpPr txBox="1"/>
          <p:nvPr/>
        </p:nvSpPr>
        <p:spPr>
          <a:xfrm>
            <a:off x="939332" y="1189703"/>
            <a:ext cx="40699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4. </a:t>
            </a:r>
            <a:r>
              <a:rPr lang="ko-KR" altLang="en-US" dirty="0">
                <a:latin typeface="+mj-ea"/>
                <a:ea typeface="+mj-ea"/>
              </a:rPr>
              <a:t>데이터 및 기술 활용 계획 </a:t>
            </a:r>
            <a:r>
              <a:rPr lang="en-US" altLang="ko-KR" dirty="0">
                <a:latin typeface="+mj-ea"/>
                <a:ea typeface="+mj-ea"/>
              </a:rPr>
              <a:t>(Data &amp; Tech Plan)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74598198-5F31-F6FA-47DC-AA9059C06E01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14FC7CE-8E2B-C5DE-8F36-06CC621A459E}"/>
              </a:ext>
            </a:extLst>
          </p:cNvPr>
          <p:cNvSpPr txBox="1"/>
          <p:nvPr/>
        </p:nvSpPr>
        <p:spPr>
          <a:xfrm>
            <a:off x="2664541" y="1957156"/>
            <a:ext cx="7541342" cy="16004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■ 활용 데이터</a:t>
            </a:r>
            <a:endParaRPr lang="en-US" altLang="ko-KR" sz="1400" b="1" dirty="0">
              <a:solidFill>
                <a:srgbClr val="3C7CDE"/>
              </a:solidFill>
            </a:endParaRP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공장 배치도 (CAD/PDF/이미지) — 샘플 도면 자체 제작 또는 공개 도면 활용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공장 현장 사진 — AI Hub '산업현장 안전장비 이미지', Roboflow 공장 데이터셋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산업안전보건법/소방법 조문 — 법제처 Open API (법령 XML 파싱 경험 보유)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YOLO 학습용 어노테이션 — Roboflow 산업 설비 데이터셋 + 자체 라벨링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 b="1">
                <a:solidFill>
                  <a:srgbClr val="333333"/>
                </a:solidFill>
              </a:defRPr>
            </a:pPr>
            <a:r>
              <a:t>■ AI/분석 기술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Object Detection: YOLO v11 (설비/장애물/안전설비 탐지)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— 정환의 YOLO+DeepSORT 주차장/압력솥 프로젝트 경험 직접 활용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Image Alignment: 도면-현장 좌표 정합 (Homography 변환)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Graph-RAG: 안전 법규 지식 그래프 + 조문 검색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— 지민의 graph-rag-study 경험 직접 활용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OCR/IDP: 도면 PDF 텍스트 추출 (PyMuPDF + Tesseract)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 b="1">
                <a:solidFill>
                  <a:srgbClr val="333333"/>
                </a:solidFill>
              </a:defRPr>
            </a:pPr>
            <a:r>
              <a:t>■ 기술 스택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AI: Python, PyTorch, Ultralytics(YOLO), LangChain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Backend: FastAPI, Qdrant (벡터DB), PostgreSQL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Frontend: Streamlit (대시보드), Plotly/Leaflet (도면 시각화)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Infra: Docker Compose (FE+BE+Qdrant 일체화)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 b="1">
                <a:solidFill>
                  <a:srgbClr val="333333"/>
                </a:solidFill>
              </a:defRPr>
            </a:pPr>
            <a:r>
              <a:t>■ 기술적 제약 및 해결 전략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실제 공장 데이터 부재 → 샘플 공장 도면 자체 제작 + 공개 데이터 혼합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도면-사진 정합 정확도 → Homography 기반 수동 앵커 + 자동 보정 병행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법규 DB 구축 범위 → 산안법 핵심 조항(통로, 소화기, 비상구) 우선 구축</a:t>
            </a: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C3D6C61D-BBDC-1167-190C-BD4CD9BF21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A5283CA2-90DA-09BA-1082-399479A662C8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383210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C5F2F-DE76-5319-E068-14743C84C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9AE7259-26F0-06A2-EAF0-0D348222D14B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084726C7-DE11-80A0-7DC0-A7AA122EF941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4C676688-A4F9-28A5-585E-15C4791A36ED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시나리오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ko-KR" altLang="en-US" sz="13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유즈케이스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(User Case)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9FEEE123-BAF0-A0FD-15FF-1DB31311C4F2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FD89DB19-FF6A-0CDA-AF62-F36E28F99C4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1C89922-1506-2D6C-C1C7-A35B619FBB4A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03726A74-16E1-92E8-6C23-4217F6189B6D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BE20A8A-50DC-1699-36DC-DE2652FD7726}"/>
              </a:ext>
            </a:extLst>
          </p:cNvPr>
          <p:cNvSpPr txBox="1"/>
          <p:nvPr/>
        </p:nvSpPr>
        <p:spPr>
          <a:xfrm>
            <a:off x="2664541" y="1957156"/>
            <a:ext cx="7541342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defRPr sz="900" b="1">
                <a:solidFill>
                  <a:srgbClr val="333333"/>
                </a:solidFill>
              </a:defRPr>
            </a:pPr>
            <a:r>
              <a:t>■ 주요 사용자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① 안전 관리자 — 공장 안전 점검 및 법규 준수 확인 (주 사용자)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② 공장장/시설팀 — 설비 배치 변경 관리, 대피 경로 확인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③ 외부 점검관 — 산업안전보건공단 점검 시 현황 자료 제출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 b="1">
                <a:solidFill>
                  <a:srgbClr val="333333"/>
                </a:solidFill>
              </a:defRPr>
            </a:pPr>
            <a:r>
              <a:t>■ 대표 시나리오: "안전 관리자 김 과장의 월요일"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>
                <a:solidFill>
                  <a:srgbClr val="333333"/>
                </a:solidFill>
              </a:defRPr>
            </a:pPr>
            <a:r>
              <a:t>09:00  주말 동안 생산라인 재배치 발생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→ 현장 직원이 스마트폰으로 현장 사진 촬영 후 업로드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>
                <a:solidFill>
                  <a:srgbClr val="333333"/>
                </a:solidFill>
              </a:defRPr>
            </a:pPr>
            <a:r>
              <a:t>09:05  FactoryMind가 사진 분석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→ YOLO가 설비 12대, 소화기 3개, 통로 4개 탐지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→ 기존 도면과 대조: 프레스기 2대 이동, 통로 1개 차단 감지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→ 도면 위에 변경점 빨간색 표시 + "도면 갱신 필요" 알림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>
                <a:solidFill>
                  <a:srgbClr val="333333"/>
                </a:solidFill>
              </a:defRPr>
            </a:pPr>
            <a:r>
              <a:t>09:10  안전 법규 자동 점검 결과 확인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→ "B구역 통로폭 1.2m — 산안법 시행규칙 제17조 위반 (최소 1.5m)"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→ "C구역 소화기 이동 — 소방법 제10조 기준 접근 거리 초과"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→ 위반 2건 + 시정 가이드 포함 보고서 자동 생성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>
                <a:solidFill>
                  <a:srgbClr val="333333"/>
                </a:solidFill>
              </a:defRPr>
            </a:pPr>
            <a:r>
              <a:t>09:15  도면 갱신 승인 → 최신 도면 확정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→ 변경 이력에 자동 기록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→ 다음 점검 시 이 도면이 기준이 됨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 b="1">
                <a:solidFill>
                  <a:srgbClr val="333333"/>
                </a:solidFill>
              </a:defRPr>
            </a:pPr>
            <a:r>
              <a:t>■ 핵심: 사진 한 장이면 도면 갱신 + 안전 점검이 동시에 끝난다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B6FD35-8911-88CB-877F-E612391C583D}"/>
              </a:ext>
            </a:extLst>
          </p:cNvPr>
          <p:cNvSpPr txBox="1"/>
          <p:nvPr/>
        </p:nvSpPr>
        <p:spPr>
          <a:xfrm>
            <a:off x="939333" y="1189703"/>
            <a:ext cx="42190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5. </a:t>
            </a:r>
            <a:r>
              <a:rPr lang="ko-KR" altLang="en-US" dirty="0">
                <a:latin typeface="+mj-ea"/>
                <a:ea typeface="+mj-ea"/>
              </a:rPr>
              <a:t>사용자 시나리오</a:t>
            </a:r>
            <a:r>
              <a:rPr lang="en-US" altLang="ko-KR" dirty="0">
                <a:latin typeface="+mj-ea"/>
                <a:ea typeface="+mj-ea"/>
              </a:rPr>
              <a:t>/</a:t>
            </a:r>
            <a:r>
              <a:rPr lang="ko-KR" altLang="en-US" dirty="0" err="1">
                <a:latin typeface="+mj-ea"/>
                <a:ea typeface="+mj-ea"/>
              </a:rPr>
              <a:t>유즈케이스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(User Case)</a:t>
            </a:r>
            <a:endParaRPr lang="ko-KR" altLang="en-US" dirty="0">
              <a:latin typeface="+mj-ea"/>
              <a:ea typeface="+mj-ea"/>
            </a:endParaRP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05126979-E795-B5FD-2861-875755BE23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0AF01168-01B8-DC74-BCBE-D88540B8F2E5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018710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5E8FC-AF2C-579B-9590-CBF085597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09914A8-02ED-C312-A18A-F0400EE2D348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5AB79AF0-60D8-DAFD-ADA5-DCB0D1EDF471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16B1A2F3-666A-22BB-FF71-0DD83ECC923A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6.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구현 범위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(MVP Scope)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89685848-AB8F-A36C-25D5-DC70B40222BD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34A7F8E4-A3AF-3E82-0313-AEF582DA229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97705F4-E4B5-B067-FB20-9054BFFE100D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DE9DE420-DE7B-8768-0FC1-D2BA97FE1AF7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911D661-D63D-C639-8CAF-6774EF15CEBB}"/>
              </a:ext>
            </a:extLst>
          </p:cNvPr>
          <p:cNvSpPr txBox="1"/>
          <p:nvPr/>
        </p:nvSpPr>
        <p:spPr>
          <a:xfrm>
            <a:off x="2664541" y="1957156"/>
            <a:ext cx="7541342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defRPr sz="900" b="1">
                <a:solidFill>
                  <a:srgbClr val="333333"/>
                </a:solidFill>
              </a:defRPr>
            </a:pPr>
            <a:r>
              <a:t>■ 본선 MVP 구현 범위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>
                <a:solidFill>
                  <a:srgbClr val="333333"/>
                </a:solidFill>
              </a:defRPr>
            </a:pPr>
            <a:r>
              <a:t>━━ Must-have (사전 준비 + 당일 통합) ━━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[사전] YOLO 모델 학습 완료 (설비/통로/소화기/비상구 탐지)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[사전] 샘플 공장 도면 제작 + 좌표 매핑 체계 구축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[사전] 산안법 핵심 조항 Graph-RAG 구축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[당일] 현장 사진 업로드 → 객체 탐지 → 도면 오버레이 시연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[당일] 도면-현장 변경점 자동 감지 시연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[당일] 안전 법규 위반 탐지 + 근거 조문 제시 시연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>
                <a:solidFill>
                  <a:srgbClr val="333333"/>
                </a:solidFill>
              </a:defRPr>
            </a:pPr>
            <a:r>
              <a:t>━━ Should-have ━━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위험 지도 히트맵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변경 이력 타임라인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안전 점검 보고서 PDF 생성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>
                <a:solidFill>
                  <a:srgbClr val="333333"/>
                </a:solidFill>
              </a:defRPr>
            </a:pPr>
            <a:r>
              <a:t>━━ Phase 2+ (향후) ━━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실시간 CCTV 연동 (DeepSORT 추적)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3D 도면 지원 (디지털 트윈)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모바일 앱 (현장 사진 즉시 업로드)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 b="1">
                <a:solidFill>
                  <a:srgbClr val="333333"/>
                </a:solidFill>
              </a:defRPr>
            </a:pPr>
            <a:r>
              <a:t>■ 역할 분담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>
                <a:solidFill>
                  <a:srgbClr val="333333"/>
                </a:solidFill>
              </a:defRPr>
            </a:pPr>
            <a:r>
              <a:t>소지민 (Space &amp; Logic Architect)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산안법/소방법 Graph-RAG 구축 (법령 파싱 + 지식 그래프)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도면 파싱 및 객체-법규 매칭 로직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위반 판정 엔진 + 시정 가이드 생성</a:t>
            </a:r>
          </a:p>
          <a:p>
            <a:pPr>
              <a:defRPr sz="900">
                <a:solidFill>
                  <a:srgbClr val="333333"/>
                </a:solidFill>
              </a:defRPr>
            </a:pPr>
          </a:p>
          <a:p>
            <a:pPr>
              <a:defRPr sz="900">
                <a:solidFill>
                  <a:srgbClr val="333333"/>
                </a:solidFill>
              </a:defRPr>
            </a:pPr>
            <a:r>
              <a:t>원정환 (Vision &amp; Platform Engineer)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YOLO 학습 + 현장 객체 탐지 파이프라인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도면-사진 좌표 정합 (Homography)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  • Streamlit 대시보드 + Docker 시연 환경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120F58-8315-85C3-52C9-14AFDA96469F}"/>
              </a:ext>
            </a:extLst>
          </p:cNvPr>
          <p:cNvSpPr txBox="1"/>
          <p:nvPr/>
        </p:nvSpPr>
        <p:spPr>
          <a:xfrm>
            <a:off x="939333" y="1189703"/>
            <a:ext cx="42190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6.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MVP </a:t>
            </a:r>
            <a:r>
              <a:rPr lang="ko-KR" altLang="en-US" dirty="0">
                <a:latin typeface="+mj-ea"/>
                <a:ea typeface="+mj-ea"/>
              </a:rPr>
              <a:t>구현 범위</a:t>
            </a:r>
            <a:r>
              <a:rPr lang="en-US" altLang="ko-KR" dirty="0">
                <a:latin typeface="+mj-ea"/>
                <a:ea typeface="+mj-ea"/>
              </a:rPr>
              <a:t>(MVP Scope)</a:t>
            </a:r>
            <a:endParaRPr lang="ko-KR" altLang="en-US" dirty="0">
              <a:latin typeface="+mj-ea"/>
              <a:ea typeface="+mj-ea"/>
            </a:endParaRP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01E17689-E744-2C0D-412D-DE9C1722A6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926036DA-B835-FA25-3FC1-05D1768A0924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848951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F9DE8-42A8-681C-5E1B-73196E0C9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3B9D12E-1495-9345-B5C1-6CA487351340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662CCC3A-67D3-9E2D-ED85-F4ACDA9881F3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10197046-830B-49AC-2A1E-DDD714EA3942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 효과 및 향후 확장성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(Expected Impact)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648C386E-E25E-A7E0-794C-23D5AC7A5576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DEF02F1E-697C-7F56-95DC-71E50216EDF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BDBA01F2-CD0A-EE54-FD1F-D2390E85F862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C5544C-80B5-F11D-247F-B4A6731ECC76}"/>
              </a:ext>
            </a:extLst>
          </p:cNvPr>
          <p:cNvSpPr txBox="1"/>
          <p:nvPr/>
        </p:nvSpPr>
        <p:spPr>
          <a:xfrm>
            <a:off x="939333" y="1189703"/>
            <a:ext cx="4308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7. </a:t>
            </a:r>
            <a:r>
              <a:rPr lang="ko-KR" altLang="en-US" dirty="0">
                <a:latin typeface="+mj-ea"/>
                <a:ea typeface="+mj-ea"/>
              </a:rPr>
              <a:t>기대 효과 및 향후 확장성 </a:t>
            </a:r>
            <a:r>
              <a:rPr lang="en-US" altLang="ko-KR" dirty="0">
                <a:latin typeface="+mj-ea"/>
                <a:ea typeface="+mj-ea"/>
              </a:rPr>
              <a:t>(Expected Impact)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F9243552-6E4F-42E8-93DC-3EB0B30CBB04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CBA99FA-B21D-F75D-948E-7068D40928E0}"/>
              </a:ext>
            </a:extLst>
          </p:cNvPr>
          <p:cNvSpPr txBox="1"/>
          <p:nvPr/>
        </p:nvSpPr>
        <p:spPr>
          <a:xfrm>
            <a:off x="2664541" y="1957156"/>
            <a:ext cx="754134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■ 정량적 기대 효과</a:t>
            </a:r>
            <a:endParaRPr lang="en-US" altLang="ko-KR" sz="1400" b="1" dirty="0">
              <a:solidFill>
                <a:srgbClr val="3C7CDE"/>
              </a:solidFill>
            </a:endParaRP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도면 갱신 비용 90% 절감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→ 외부 용역(건당 200~500만원) → 사진 촬영만으로 자동 갱신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안전 점검 시간 70% 단축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→ 수동 현장 대조(4시간) → AI 자동 점검(30분 이내)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안전 위반 탐지율 향상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→ 월 1회 수동 점검 → 상시 AI 감시 (사진 업로드 시마다)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 b="1">
                <a:solidFill>
                  <a:srgbClr val="333333"/>
                </a:solidFill>
              </a:defRPr>
            </a:pPr>
            <a:r>
              <a:t>■ 정성적 기대 효과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산업재해 예방: 도면-현장 괴리로 인한 대피 실패 방지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법규 준수 자동화: 안전 관리자의 법규 숙지 부담 경감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감사 대응력 강화: 점검관에게 최신 도면 + 점검 이력 즉시 제출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중소기업 안전관리 민주화: 전문 인력 없이도 AI가 안전 점검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 b="1">
                <a:solidFill>
                  <a:srgbClr val="333333"/>
                </a:solidFill>
              </a:defRPr>
            </a:pPr>
            <a:r>
              <a:t>■ 현장 적용 가능성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스마트폰 카메라 + 기존 도면만 있으면 즉시 도입 가능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센서/IoT 장비 추가 설치 불필요 — 진입 장벽 최소화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Docker 기반 온프레미스 배포로 보안 이슈 없음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 b="1">
                <a:solidFill>
                  <a:srgbClr val="333333"/>
                </a:solidFill>
              </a:defRPr>
            </a:pPr>
            <a:r>
              <a:t>■ 향후 확장성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Phase 2: CCTV 실시간 연동 → 상시 모니터링 (DeepSORT 추적)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Phase 3: 센서 데이터 융합 → 설비 예지보전 + 공간 안전 통합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Phase 4: 디지털 트윈 → 3D 공장 모델 + 사고 시뮬레이션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Phase 5: SaaS화 → 다공장 관리, 산업단지 단위 안전 관제</a:t>
            </a:r>
          </a:p>
        </p:txBody>
      </p:sp>
      <p:pic>
        <p:nvPicPr>
          <p:cNvPr id="13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8749BE17-5128-AC43-85F8-6B97395030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100;p2">
            <a:extLst>
              <a:ext uri="{FF2B5EF4-FFF2-40B4-BE49-F238E27FC236}">
                <a16:creationId xmlns:a16="http://schemas.microsoft.com/office/drawing/2014/main" id="{FD31846E-1545-CCE0-0B44-9A65BC1534A7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414306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446</Words>
  <Application>Microsoft Macintosh PowerPoint</Application>
  <PresentationFormat>와이드스크린</PresentationFormat>
  <Paragraphs>66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Malgun Gothic</vt:lpstr>
      <vt:lpstr>Malgun Gothic</vt:lpstr>
      <vt:lpstr>Pretendard_KR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Dacon io</dc:creator>
  <cp:lastModifiedBy>Dacon io</cp:lastModifiedBy>
  <cp:revision>83</cp:revision>
  <dcterms:created xsi:type="dcterms:W3CDTF">2024-05-21T00:00:56Z</dcterms:created>
  <dcterms:modified xsi:type="dcterms:W3CDTF">2026-04-22T06:04:35Z</dcterms:modified>
</cp:coreProperties>
</file>