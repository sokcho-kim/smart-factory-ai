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8" r:id="rId3"/>
    <p:sldId id="279" r:id="rId4"/>
    <p:sldId id="280" r:id="rId5"/>
    <p:sldId id="273" r:id="rId6"/>
    <p:sldId id="281" r:id="rId7"/>
    <p:sldId id="283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33"/>
    <p:restoredTop sz="94648"/>
  </p:normalViewPr>
  <p:slideViewPr>
    <p:cSldViewPr snapToGrid="0">
      <p:cViewPr varScale="1">
        <p:scale>
          <a:sx n="104" d="100"/>
          <a:sy n="104" d="100"/>
        </p:scale>
        <p:origin x="1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90671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Fist99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PunchLine - AI 비전 기반 품질 자동 기록 및 불량 원인 추적 시스템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[문제: 데이터가 안 쌓인다 -- 그래서 분석도 추적도 안 된다]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100" b="1">
              <a:solidFill>
                <a:srgbClr val="0D47A1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중소 제조 현장의 품질 관리는 여전히 사람 눈과 수기 기록에 의존합니다.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1) 검사 데이터가 부정확하거나 안 쌓인다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작업자가 바쁘면 기록을 건너뛰고, 시간을 대충 적습니다.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"몇 시에 불량이 급증했는가?"에 답할 수 없습니다. (JPC 구매부 인터뷰)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9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2) 불량이 반복되는데 원인을 모른다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불량 시점의 공정 조건(온도/압력/속도)이 기록과 연결되지 않습니다.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9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3) AI가 필요한 건 알지만 도입 못 한다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중소 제조기업 80%가 AI 필요성 체감 (중기중앙회, 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그러나 AI 비전 도입의 77%가 파일럿에서 멈춤 (ABI Research)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원인: 산업용 카메라/조명/GPU 서버 등 초기 투자 비용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9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[핵심 KPI]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품질 데이터 수집률:  0% --&gt; 100% (사람 입력 제거)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불량 원인 추적:     수일(수작업) --&gt; 실시간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도입 비용:          수천만원 --&gt; 웹캠 + 일반 PC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[PunchLine -- 카메라가 검사하고, 시간을 기록하고, 원인을 찾는다]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사람이 입력하는 것이 하나도 없는 품질 관리 시스템입니다.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라인에 카메라를 설치하면, AI가 제품을 검사하고,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불량을 자동 기록하고, 공정 조건과 연결하여 원인을 추적합니다.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00">
              <a:solidFill>
                <a:srgbClr val="333333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[핵심: 분석 도구가 아니라 '데이터 생성 엔진']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기존 솔루션은 분석 도구를 제공하지만, 현장에는 분석할 데이터가 없습니다.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PunchLine은 카메라가 촬영하는 순간 검사결과+시간+유형이 자동 기록됩니다.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9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[2026 제조 AI 트렌드 부합]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Predictive Quality  -- 탐지를 넘어 예측/예방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Causal AI           -- 상관관계가 아닌 진짜 원인 추적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저비용 진입          -- 웹캠 + YOLO v8n으로 시작 가능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9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[핵심 흐름]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촬영 --&gt; DETECT(불량판정) --&gt; TRACE(원인추적) --&gt; GUIDE(조치안내) --&gt; 자동기록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* 전 과정 사람 입력 0건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[기능 1. 저비용 비전 자동 검사 + 자동 기록]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웹캠 또는 저가 USB 카메라로 제품 외관 촬영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경량 모델(YOLO v8n)이 양품/불량 판정 + 유형 분류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연기/진동/소음 환경에서도 동작 검증 완료 (팀원 실전 경험)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검사 결과 + 타임스탬프 자동 DB 적재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[기능 2. 정확한 시계열 품질 추적]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"몇 시에 불량이 급증했는가?" 즉시 확인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시간대별/유형별/라인별 불량률 추이 자동 생성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교대조별 품질 비교, 요일/시간 패턴 분석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[기능 3. 불량 원인 자동 추적 (인과 분석)]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불량 급증 시점의 공정 파라미터 자동 조회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다변수 복합 상호작용 분석 (온도+압력+속도)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SHAP 기반 설명가능 AI로 핵심 원인 변수 특정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[기능 4. 조치 가이드 + 이력 관리]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불량 유형별 표준 조치 방법 자동 안내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과거 유사 사례 및 해결 이력 검색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전체 품질 이력 자동 축적 -- 감사/인증 즉시 대응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[활용 데이터]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비전 학습:    MVTec AD (5,354장) / Casting Defect (7,348장) / NEU (1,800장)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인과 분석:    SECOM 반도체 센서 590개 + 불량라벨 (1,567 rows)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시뮬레이션:   온도/압력/속도 복합 상호작용 합성 데이터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* 제품 도면(CAD) 불필요 -- 양품 이미지만으로 학습 가능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[기술 구성]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결함 탐지:    YOLO v8n (경량, GPU 없이 추론 가능) + PatchCore (이상 탐지)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인과 분석:    SHAP + 다변수 상호작용 분석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Backend:     FastAPI + PostgreSQL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Frontend:    Streamlit + Plotly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Infra:       Docker Compose (FE+BE+DB 일체화)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[하드웨어 -- 최소 사양으로 동작]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카메라:       웹캠 또는 저가 USB 카메라 (3~10만원)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PC:          일반 사무용 PC (GPU 불필요)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네트워크:     폐쇄망 설치 가능 (Docker, 외부 통신 없음)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[정책 연계]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2026 스마트 제조혁신 AI트랙 (154.5억원, 150개 중소기업 대상)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기존 스마트팩토리 --&gt; AI 팩토리 업그레이드 정책 부합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[사용자]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품질 관리자 -- 불량 모니터링, 원인 파악, 개선 지시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라인 작업자 -- 불량 알림 수신, 현장 조치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공장장     -- 일일/주간 품질 리포트, 의사결정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[기존 방식 -- 사람이 보고, 사람이 적는다]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09:47  작업자가 불량 발견, 수기 기록 (시간 부정확)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12:00  점심시간 기록 누락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15:00  품질 관리자가 엑셀 확인 -- 데이터 빠져있음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15:30  "오전에 불량 많았다는데 몇 시인지 모르겠다"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--&gt; 원인 추적 불가, 내일도 반복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[PunchLine 도입 후 -- 카메라가 보고, AI가 적는다]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09:00  라인 가동, 웹캠이 매 제품 자동 촬영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09:42  크랙 3건/10분 감지, 자동 알림 발생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       "A라인 09:42부터 크랙 급증"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       "금형 온도 86도 -- 정상 범위(70~80) 초과, 기여도 73%"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09:44  작업자 온도 조정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09:55  불량률 정상 복귀, 전 과정 자동 기록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감지 --&gt; 원인 --&gt; 조치: 2분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11D661-D63D-C639-8CAF-6774EF15CEBB}"/>
              </a:ext>
            </a:extLst>
          </p:cNvPr>
          <p:cNvSpPr txBox="1"/>
          <p:nvPr/>
        </p:nvSpPr>
        <p:spPr>
          <a:xfrm>
            <a:off x="914400" y="1691640"/>
            <a:ext cx="9875520" cy="2952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 dirty="0">
                <a:solidFill>
                  <a:srgbClr val="0D47A1"/>
                </a:solidFill>
              </a:rPr>
              <a:t>[MVP </a:t>
            </a:r>
            <a:r>
              <a:rPr sz="1000" b="1" dirty="0" err="1">
                <a:solidFill>
                  <a:srgbClr val="0D47A1"/>
                </a:solidFill>
              </a:rPr>
              <a:t>구현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범위</a:t>
            </a:r>
            <a:r>
              <a:rPr sz="1000" b="1" dirty="0">
                <a:solidFill>
                  <a:srgbClr val="0D47A1"/>
                </a:solidFill>
              </a:rPr>
              <a:t> 및 </a:t>
            </a:r>
            <a:r>
              <a:rPr sz="1000" b="1" dirty="0" err="1">
                <a:solidFill>
                  <a:srgbClr val="0D47A1"/>
                </a:solidFill>
              </a:rPr>
              <a:t>완성도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기준</a:t>
            </a:r>
            <a:r>
              <a:rPr sz="1000" b="1" dirty="0">
                <a:solidFill>
                  <a:srgbClr val="0D47A1"/>
                </a:solidFill>
              </a:rPr>
              <a:t> (100점 </a:t>
            </a:r>
            <a:r>
              <a:rPr sz="1000" b="1" dirty="0" err="1">
                <a:solidFill>
                  <a:srgbClr val="0D47A1"/>
                </a:solidFill>
              </a:rPr>
              <a:t>만점</a:t>
            </a:r>
            <a:r>
              <a:rPr sz="1000" b="1" dirty="0">
                <a:solidFill>
                  <a:srgbClr val="0D47A1"/>
                </a:solidFill>
              </a:rPr>
              <a:t>)]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lang="en-US"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800" dirty="0">
                <a:solidFill>
                  <a:srgbClr val="555555"/>
                </a:solidFill>
              </a:rPr>
              <a:t>   - </a:t>
            </a:r>
            <a:r>
              <a:rPr sz="800" dirty="0">
                <a:solidFill>
                  <a:srgbClr val="555555"/>
                </a:solidFill>
              </a:rPr>
              <a:t>AI </a:t>
            </a:r>
            <a:r>
              <a:rPr sz="800" dirty="0" err="1">
                <a:solidFill>
                  <a:srgbClr val="555555"/>
                </a:solidFill>
              </a:rPr>
              <a:t>자동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검사</a:t>
            </a:r>
            <a:r>
              <a:rPr sz="800" dirty="0">
                <a:solidFill>
                  <a:srgbClr val="555555"/>
                </a:solidFill>
              </a:rPr>
              <a:t> (</a:t>
            </a:r>
            <a:r>
              <a:rPr sz="800" dirty="0" err="1">
                <a:solidFill>
                  <a:srgbClr val="555555"/>
                </a:solidFill>
              </a:rPr>
              <a:t>양품</a:t>
            </a:r>
            <a:r>
              <a:rPr sz="800" dirty="0">
                <a:solidFill>
                  <a:srgbClr val="555555"/>
                </a:solidFill>
              </a:rPr>
              <a:t>/</a:t>
            </a:r>
            <a:r>
              <a:rPr sz="800" dirty="0" err="1">
                <a:solidFill>
                  <a:srgbClr val="555555"/>
                </a:solidFill>
              </a:rPr>
              <a:t>불량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판정</a:t>
            </a:r>
            <a:r>
              <a:rPr sz="800" dirty="0">
                <a:solidFill>
                  <a:srgbClr val="555555"/>
                </a:solidFill>
              </a:rPr>
              <a:t>)  </a:t>
            </a:r>
            <a:r>
              <a:rPr lang="en-US" sz="800" dirty="0">
                <a:solidFill>
                  <a:srgbClr val="555555"/>
                </a:solidFill>
              </a:rPr>
              <a:t>:</a:t>
            </a:r>
            <a:r>
              <a:rPr sz="800" dirty="0" err="1">
                <a:solidFill>
                  <a:srgbClr val="555555"/>
                </a:solidFill>
              </a:rPr>
              <a:t>정확도</a:t>
            </a:r>
            <a:r>
              <a:rPr sz="800" dirty="0">
                <a:solidFill>
                  <a:srgbClr val="555555"/>
                </a:solidFill>
              </a:rPr>
              <a:t> 90%+, </a:t>
            </a:r>
            <a:r>
              <a:rPr sz="800" dirty="0" err="1">
                <a:solidFill>
                  <a:srgbClr val="555555"/>
                </a:solidFill>
              </a:rPr>
              <a:t>실시간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판정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시연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</a:t>
            </a:r>
            <a:r>
              <a:rPr lang="en-US" sz="800" dirty="0">
                <a:solidFill>
                  <a:srgbClr val="555555"/>
                </a:solidFill>
              </a:rPr>
              <a:t> - </a:t>
            </a:r>
            <a:r>
              <a:rPr sz="800" dirty="0" err="1">
                <a:solidFill>
                  <a:srgbClr val="555555"/>
                </a:solidFill>
              </a:rPr>
              <a:t>불량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유형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분류</a:t>
            </a:r>
            <a:r>
              <a:rPr sz="800" dirty="0">
                <a:solidFill>
                  <a:srgbClr val="555555"/>
                </a:solidFill>
              </a:rPr>
              <a:t> (</a:t>
            </a:r>
            <a:r>
              <a:rPr sz="800" dirty="0" err="1">
                <a:solidFill>
                  <a:srgbClr val="555555"/>
                </a:solidFill>
              </a:rPr>
              <a:t>크랙</a:t>
            </a:r>
            <a:r>
              <a:rPr sz="800" dirty="0">
                <a:solidFill>
                  <a:srgbClr val="555555"/>
                </a:solidFill>
              </a:rPr>
              <a:t>/</a:t>
            </a:r>
            <a:r>
              <a:rPr sz="800" dirty="0" err="1">
                <a:solidFill>
                  <a:srgbClr val="555555"/>
                </a:solidFill>
              </a:rPr>
              <a:t>기포</a:t>
            </a:r>
            <a:r>
              <a:rPr sz="800" dirty="0">
                <a:solidFill>
                  <a:srgbClr val="555555"/>
                </a:solidFill>
              </a:rPr>
              <a:t>/</a:t>
            </a:r>
            <a:r>
              <a:rPr sz="800" dirty="0" err="1">
                <a:solidFill>
                  <a:srgbClr val="555555"/>
                </a:solidFill>
              </a:rPr>
              <a:t>스크래치</a:t>
            </a:r>
            <a:r>
              <a:rPr sz="800" dirty="0">
                <a:solidFill>
                  <a:srgbClr val="555555"/>
                </a:solidFill>
              </a:rPr>
              <a:t>) </a:t>
            </a:r>
            <a:r>
              <a:rPr lang="en-US" sz="800" dirty="0">
                <a:solidFill>
                  <a:srgbClr val="555555"/>
                </a:solidFill>
              </a:rPr>
              <a:t> :</a:t>
            </a:r>
            <a:r>
              <a:rPr sz="800" dirty="0">
                <a:solidFill>
                  <a:srgbClr val="555555"/>
                </a:solidFill>
              </a:rPr>
              <a:t> 3종 </a:t>
            </a:r>
            <a:r>
              <a:rPr sz="800" dirty="0" err="1">
                <a:solidFill>
                  <a:srgbClr val="555555"/>
                </a:solidFill>
              </a:rPr>
              <a:t>이상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분류</a:t>
            </a:r>
            <a:r>
              <a:rPr sz="800" dirty="0">
                <a:solidFill>
                  <a:srgbClr val="555555"/>
                </a:solidFill>
              </a:rPr>
              <a:t>, </a:t>
            </a:r>
            <a:r>
              <a:rPr sz="800" dirty="0" err="1">
                <a:solidFill>
                  <a:srgbClr val="555555"/>
                </a:solidFill>
              </a:rPr>
              <a:t>바운딩박스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표시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</a:t>
            </a:r>
            <a:r>
              <a:rPr lang="en-US" sz="800" dirty="0">
                <a:solidFill>
                  <a:srgbClr val="555555"/>
                </a:solidFill>
              </a:rPr>
              <a:t> - </a:t>
            </a:r>
            <a:r>
              <a:rPr sz="800" dirty="0" err="1">
                <a:solidFill>
                  <a:srgbClr val="555555"/>
                </a:solidFill>
              </a:rPr>
              <a:t>자동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기록</a:t>
            </a:r>
            <a:r>
              <a:rPr sz="800" dirty="0">
                <a:solidFill>
                  <a:srgbClr val="555555"/>
                </a:solidFill>
              </a:rPr>
              <a:t> + </a:t>
            </a:r>
            <a:r>
              <a:rPr sz="800" dirty="0" err="1">
                <a:solidFill>
                  <a:srgbClr val="555555"/>
                </a:solidFill>
              </a:rPr>
              <a:t>시계열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추적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lang="en-US" sz="800" dirty="0">
                <a:solidFill>
                  <a:srgbClr val="555555"/>
                </a:solidFill>
              </a:rPr>
              <a:t>: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타임스탬프</a:t>
            </a:r>
            <a:r>
              <a:rPr sz="800" dirty="0">
                <a:solidFill>
                  <a:srgbClr val="555555"/>
                </a:solidFill>
              </a:rPr>
              <a:t> DB </a:t>
            </a:r>
            <a:r>
              <a:rPr sz="800" dirty="0" err="1">
                <a:solidFill>
                  <a:srgbClr val="555555"/>
                </a:solidFill>
              </a:rPr>
              <a:t>적재</a:t>
            </a:r>
            <a:r>
              <a:rPr sz="800" dirty="0">
                <a:solidFill>
                  <a:srgbClr val="555555"/>
                </a:solidFill>
              </a:rPr>
              <a:t>, </a:t>
            </a:r>
            <a:r>
              <a:rPr sz="800" dirty="0" err="1">
                <a:solidFill>
                  <a:srgbClr val="555555"/>
                </a:solidFill>
              </a:rPr>
              <a:t>시간대별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차트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</a:t>
            </a:r>
            <a:r>
              <a:rPr lang="en-US" sz="800" dirty="0">
                <a:solidFill>
                  <a:srgbClr val="555555"/>
                </a:solidFill>
              </a:rPr>
              <a:t> - </a:t>
            </a:r>
            <a:r>
              <a:rPr sz="800" dirty="0" err="1">
                <a:solidFill>
                  <a:srgbClr val="555555"/>
                </a:solidFill>
              </a:rPr>
              <a:t>불량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원인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추적</a:t>
            </a:r>
            <a:r>
              <a:rPr sz="800" dirty="0">
                <a:solidFill>
                  <a:srgbClr val="555555"/>
                </a:solidFill>
              </a:rPr>
              <a:t> (</a:t>
            </a:r>
            <a:r>
              <a:rPr sz="800" dirty="0" err="1">
                <a:solidFill>
                  <a:srgbClr val="555555"/>
                </a:solidFill>
              </a:rPr>
              <a:t>공정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조건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매칭</a:t>
            </a:r>
            <a:r>
              <a:rPr sz="800" dirty="0">
                <a:solidFill>
                  <a:srgbClr val="555555"/>
                </a:solidFill>
              </a:rPr>
              <a:t>) </a:t>
            </a:r>
            <a:r>
              <a:rPr lang="en-US" sz="800" dirty="0">
                <a:solidFill>
                  <a:srgbClr val="555555"/>
                </a:solidFill>
              </a:rPr>
              <a:t>:</a:t>
            </a:r>
            <a:r>
              <a:rPr sz="800" dirty="0">
                <a:solidFill>
                  <a:srgbClr val="555555"/>
                </a:solidFill>
              </a:rPr>
              <a:t>   SHAP </a:t>
            </a:r>
            <a:r>
              <a:rPr sz="800" dirty="0" err="1">
                <a:solidFill>
                  <a:srgbClr val="555555"/>
                </a:solidFill>
              </a:rPr>
              <a:t>분석</a:t>
            </a:r>
            <a:r>
              <a:rPr sz="800" dirty="0">
                <a:solidFill>
                  <a:srgbClr val="555555"/>
                </a:solidFill>
              </a:rPr>
              <a:t>, </a:t>
            </a:r>
            <a:r>
              <a:rPr sz="800" dirty="0" err="1">
                <a:solidFill>
                  <a:srgbClr val="555555"/>
                </a:solidFill>
              </a:rPr>
              <a:t>원인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변수</a:t>
            </a:r>
            <a:r>
              <a:rPr sz="800" dirty="0">
                <a:solidFill>
                  <a:srgbClr val="555555"/>
                </a:solidFill>
              </a:rPr>
              <a:t> Top3 </a:t>
            </a:r>
            <a:r>
              <a:rPr sz="800" dirty="0" err="1">
                <a:solidFill>
                  <a:srgbClr val="555555"/>
                </a:solidFill>
              </a:rPr>
              <a:t>표시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</a:t>
            </a:r>
            <a:r>
              <a:rPr lang="en-US" sz="800" dirty="0">
                <a:solidFill>
                  <a:srgbClr val="555555"/>
                </a:solidFill>
              </a:rPr>
              <a:t> - </a:t>
            </a:r>
            <a:r>
              <a:rPr sz="800" dirty="0" err="1">
                <a:solidFill>
                  <a:srgbClr val="555555"/>
                </a:solidFill>
              </a:rPr>
              <a:t>조치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가이드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제공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lang="en-US" sz="800" dirty="0">
                <a:solidFill>
                  <a:srgbClr val="555555"/>
                </a:solidFill>
              </a:rPr>
              <a:t>:</a:t>
            </a:r>
            <a:r>
              <a:rPr sz="800" dirty="0" err="1">
                <a:solidFill>
                  <a:srgbClr val="555555"/>
                </a:solidFill>
              </a:rPr>
              <a:t>유형별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조치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안내</a:t>
            </a:r>
            <a:r>
              <a:rPr sz="800" dirty="0">
                <a:solidFill>
                  <a:srgbClr val="555555"/>
                </a:solidFill>
              </a:rPr>
              <a:t>, </a:t>
            </a:r>
            <a:r>
              <a:rPr sz="800" dirty="0" err="1">
                <a:solidFill>
                  <a:srgbClr val="555555"/>
                </a:solidFill>
              </a:rPr>
              <a:t>유사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사례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검색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</a:t>
            </a:r>
            <a:r>
              <a:rPr lang="en-US" sz="800" dirty="0">
                <a:solidFill>
                  <a:srgbClr val="555555"/>
                </a:solidFill>
              </a:rPr>
              <a:t> - </a:t>
            </a:r>
            <a:r>
              <a:rPr sz="800" dirty="0" err="1">
                <a:solidFill>
                  <a:srgbClr val="555555"/>
                </a:solidFill>
              </a:rPr>
              <a:t>통합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대시보드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시연</a:t>
            </a:r>
            <a:r>
              <a:rPr lang="en-US" sz="800" dirty="0">
                <a:solidFill>
                  <a:srgbClr val="555555"/>
                </a:solidFill>
              </a:rPr>
              <a:t> :</a:t>
            </a:r>
            <a:r>
              <a:rPr sz="800" dirty="0" err="1">
                <a:solidFill>
                  <a:srgbClr val="555555"/>
                </a:solidFill>
              </a:rPr>
              <a:t>전체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흐름</a:t>
            </a:r>
            <a:r>
              <a:rPr sz="800" dirty="0">
                <a:solidFill>
                  <a:srgbClr val="555555"/>
                </a:solidFill>
              </a:rPr>
              <a:t> E2E </a:t>
            </a:r>
            <a:r>
              <a:rPr sz="800" dirty="0" err="1">
                <a:solidFill>
                  <a:srgbClr val="555555"/>
                </a:solidFill>
              </a:rPr>
              <a:t>동작</a:t>
            </a:r>
            <a:r>
              <a:rPr sz="800" dirty="0">
                <a:solidFill>
                  <a:srgbClr val="555555"/>
                </a:solidFill>
              </a:rPr>
              <a:t>, Docker </a:t>
            </a:r>
            <a:r>
              <a:rPr sz="800" dirty="0" err="1">
                <a:solidFill>
                  <a:srgbClr val="555555"/>
                </a:solidFill>
              </a:rPr>
              <a:t>배포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 dirty="0">
                <a:solidFill>
                  <a:srgbClr val="0D47A1"/>
                </a:solidFill>
              </a:rPr>
              <a:t>[</a:t>
            </a:r>
            <a:r>
              <a:rPr sz="1000" b="1" dirty="0" err="1">
                <a:solidFill>
                  <a:srgbClr val="0D47A1"/>
                </a:solidFill>
              </a:rPr>
              <a:t>역할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분담</a:t>
            </a:r>
            <a:r>
              <a:rPr sz="1000" b="1" dirty="0">
                <a:solidFill>
                  <a:srgbClr val="0D47A1"/>
                </a:solidFill>
              </a:rPr>
              <a:t>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</a:t>
            </a:r>
            <a:r>
              <a:rPr sz="800" dirty="0" err="1">
                <a:solidFill>
                  <a:srgbClr val="555555"/>
                </a:solidFill>
              </a:rPr>
              <a:t>원정환</a:t>
            </a:r>
            <a:r>
              <a:rPr sz="800" dirty="0">
                <a:solidFill>
                  <a:srgbClr val="555555"/>
                </a:solidFill>
              </a:rPr>
              <a:t> -- AI </a:t>
            </a:r>
            <a:r>
              <a:rPr sz="800" dirty="0" err="1">
                <a:solidFill>
                  <a:srgbClr val="555555"/>
                </a:solidFill>
              </a:rPr>
              <a:t>검사</a:t>
            </a:r>
            <a:r>
              <a:rPr sz="800" dirty="0">
                <a:solidFill>
                  <a:srgbClr val="555555"/>
                </a:solidFill>
              </a:rPr>
              <a:t>(25) + </a:t>
            </a:r>
            <a:r>
              <a:rPr sz="800" dirty="0" err="1">
                <a:solidFill>
                  <a:srgbClr val="555555"/>
                </a:solidFill>
              </a:rPr>
              <a:t>유형분류</a:t>
            </a:r>
            <a:r>
              <a:rPr sz="800" dirty="0">
                <a:solidFill>
                  <a:srgbClr val="555555"/>
                </a:solidFill>
              </a:rPr>
              <a:t>(15) + </a:t>
            </a:r>
            <a:r>
              <a:rPr sz="800" dirty="0" err="1">
                <a:solidFill>
                  <a:srgbClr val="555555"/>
                </a:solidFill>
              </a:rPr>
              <a:t>대시보드</a:t>
            </a:r>
            <a:r>
              <a:rPr sz="800" dirty="0">
                <a:solidFill>
                  <a:srgbClr val="555555"/>
                </a:solidFill>
              </a:rPr>
              <a:t>(10) = 50점 </a:t>
            </a:r>
            <a:r>
              <a:rPr sz="800" dirty="0" err="1">
                <a:solidFill>
                  <a:srgbClr val="555555"/>
                </a:solidFill>
              </a:rPr>
              <a:t>영역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  YOLO v8n </a:t>
            </a:r>
            <a:r>
              <a:rPr sz="800" dirty="0" err="1">
                <a:solidFill>
                  <a:srgbClr val="555555"/>
                </a:solidFill>
              </a:rPr>
              <a:t>학습+추론</a:t>
            </a:r>
            <a:r>
              <a:rPr sz="800" dirty="0">
                <a:solidFill>
                  <a:srgbClr val="555555"/>
                </a:solidFill>
              </a:rPr>
              <a:t> / </a:t>
            </a:r>
            <a:r>
              <a:rPr sz="800" dirty="0" err="1">
                <a:solidFill>
                  <a:srgbClr val="555555"/>
                </a:solidFill>
              </a:rPr>
              <a:t>PatchCore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이상탐지</a:t>
            </a:r>
            <a:r>
              <a:rPr sz="800" dirty="0">
                <a:solidFill>
                  <a:srgbClr val="555555"/>
                </a:solidFill>
              </a:rPr>
              <a:t> / </a:t>
            </a:r>
            <a:r>
              <a:rPr sz="800" dirty="0" err="1">
                <a:solidFill>
                  <a:srgbClr val="555555"/>
                </a:solidFill>
              </a:rPr>
              <a:t>Streamlit+Docker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  (</a:t>
            </a:r>
            <a:r>
              <a:rPr sz="800" dirty="0" err="1">
                <a:solidFill>
                  <a:srgbClr val="555555"/>
                </a:solidFill>
              </a:rPr>
              <a:t>열악한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환경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실전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검증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경험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보유</a:t>
            </a:r>
            <a:r>
              <a:rPr sz="800" dirty="0">
                <a:solidFill>
                  <a:srgbClr val="555555"/>
                </a:solidFill>
              </a:rPr>
              <a:t>: </a:t>
            </a:r>
            <a:r>
              <a:rPr sz="800" dirty="0" err="1">
                <a:solidFill>
                  <a:srgbClr val="555555"/>
                </a:solidFill>
              </a:rPr>
              <a:t>연기</a:t>
            </a:r>
            <a:r>
              <a:rPr sz="800" dirty="0">
                <a:solidFill>
                  <a:srgbClr val="555555"/>
                </a:solidFill>
              </a:rPr>
              <a:t>/</a:t>
            </a:r>
            <a:r>
              <a:rPr sz="800" dirty="0" err="1">
                <a:solidFill>
                  <a:srgbClr val="555555"/>
                </a:solidFill>
              </a:rPr>
              <a:t>진동</a:t>
            </a:r>
            <a:r>
              <a:rPr sz="800" dirty="0">
                <a:solidFill>
                  <a:srgbClr val="555555"/>
                </a:solidFill>
              </a:rPr>
              <a:t>/</a:t>
            </a:r>
            <a:r>
              <a:rPr sz="800" dirty="0" err="1">
                <a:solidFill>
                  <a:srgbClr val="555555"/>
                </a:solidFill>
              </a:rPr>
              <a:t>소음</a:t>
            </a:r>
            <a:r>
              <a:rPr sz="800" dirty="0">
                <a:solidFill>
                  <a:srgbClr val="555555"/>
                </a:solidFill>
              </a:rPr>
              <a:t> 속 YOLO </a:t>
            </a:r>
            <a:r>
              <a:rPr sz="800" dirty="0" err="1">
                <a:solidFill>
                  <a:srgbClr val="555555"/>
                </a:solidFill>
              </a:rPr>
              <a:t>동작</a:t>
            </a:r>
            <a:r>
              <a:rPr sz="800" dirty="0">
                <a:solidFill>
                  <a:srgbClr val="555555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</a:t>
            </a:r>
            <a:r>
              <a:rPr sz="800" dirty="0" err="1">
                <a:solidFill>
                  <a:srgbClr val="555555"/>
                </a:solidFill>
              </a:rPr>
              <a:t>소지민</a:t>
            </a:r>
            <a:r>
              <a:rPr sz="800" dirty="0">
                <a:solidFill>
                  <a:srgbClr val="555555"/>
                </a:solidFill>
              </a:rPr>
              <a:t> -- </a:t>
            </a:r>
            <a:r>
              <a:rPr sz="800" dirty="0" err="1">
                <a:solidFill>
                  <a:srgbClr val="555555"/>
                </a:solidFill>
              </a:rPr>
              <a:t>자동기록</a:t>
            </a:r>
            <a:r>
              <a:rPr sz="800" dirty="0">
                <a:solidFill>
                  <a:srgbClr val="555555"/>
                </a:solidFill>
              </a:rPr>
              <a:t>(20) + </a:t>
            </a:r>
            <a:r>
              <a:rPr sz="800" dirty="0" err="1">
                <a:solidFill>
                  <a:srgbClr val="555555"/>
                </a:solidFill>
              </a:rPr>
              <a:t>원인추적</a:t>
            </a:r>
            <a:r>
              <a:rPr sz="800" dirty="0">
                <a:solidFill>
                  <a:srgbClr val="555555"/>
                </a:solidFill>
              </a:rPr>
              <a:t>(20) + </a:t>
            </a:r>
            <a:r>
              <a:rPr sz="800" dirty="0" err="1">
                <a:solidFill>
                  <a:srgbClr val="555555"/>
                </a:solidFill>
              </a:rPr>
              <a:t>조치가이드</a:t>
            </a:r>
            <a:r>
              <a:rPr sz="800" dirty="0">
                <a:solidFill>
                  <a:srgbClr val="555555"/>
                </a:solidFill>
              </a:rPr>
              <a:t>(10) = 50점 </a:t>
            </a:r>
            <a:r>
              <a:rPr sz="800" dirty="0" err="1">
                <a:solidFill>
                  <a:srgbClr val="555555"/>
                </a:solidFill>
              </a:rPr>
              <a:t>영역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dirty="0">
                <a:solidFill>
                  <a:srgbClr val="555555"/>
                </a:solidFill>
              </a:rPr>
              <a:t>    </a:t>
            </a:r>
            <a:r>
              <a:rPr sz="800" dirty="0" err="1">
                <a:solidFill>
                  <a:srgbClr val="555555"/>
                </a:solidFill>
              </a:rPr>
              <a:t>시계열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품질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추적</a:t>
            </a:r>
            <a:r>
              <a:rPr sz="800" dirty="0">
                <a:solidFill>
                  <a:srgbClr val="555555"/>
                </a:solidFill>
              </a:rPr>
              <a:t> / </a:t>
            </a:r>
            <a:r>
              <a:rPr sz="800" dirty="0" err="1">
                <a:solidFill>
                  <a:srgbClr val="555555"/>
                </a:solidFill>
              </a:rPr>
              <a:t>다변수</a:t>
            </a:r>
            <a:r>
              <a:rPr sz="800" dirty="0">
                <a:solidFill>
                  <a:srgbClr val="555555"/>
                </a:solidFill>
              </a:rPr>
              <a:t> SHAP </a:t>
            </a:r>
            <a:r>
              <a:rPr sz="800" dirty="0" err="1">
                <a:solidFill>
                  <a:srgbClr val="555555"/>
                </a:solidFill>
              </a:rPr>
              <a:t>인과분석</a:t>
            </a:r>
            <a:r>
              <a:rPr sz="800" dirty="0">
                <a:solidFill>
                  <a:srgbClr val="555555"/>
                </a:solidFill>
              </a:rPr>
              <a:t> / </a:t>
            </a:r>
            <a:r>
              <a:rPr sz="800" dirty="0" err="1">
                <a:solidFill>
                  <a:srgbClr val="555555"/>
                </a:solidFill>
              </a:rPr>
              <a:t>지식베이스</a:t>
            </a:r>
            <a:r>
              <a:rPr sz="800" dirty="0">
                <a:solidFill>
                  <a:srgbClr val="555555"/>
                </a:solidFill>
              </a:rPr>
              <a:t> </a:t>
            </a:r>
            <a:r>
              <a:rPr sz="800" dirty="0" err="1">
                <a:solidFill>
                  <a:srgbClr val="555555"/>
                </a:solidFill>
              </a:rPr>
              <a:t>구축</a:t>
            </a: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 dirty="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 dirty="0">
                <a:solidFill>
                  <a:srgbClr val="0D47A1"/>
                </a:solidFill>
              </a:rPr>
              <a:t>[</a:t>
            </a:r>
            <a:r>
              <a:rPr sz="1000" b="1" dirty="0" err="1">
                <a:solidFill>
                  <a:srgbClr val="0D47A1"/>
                </a:solidFill>
              </a:rPr>
              <a:t>사전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준비</a:t>
            </a:r>
            <a:r>
              <a:rPr sz="1000" b="1" dirty="0">
                <a:solidFill>
                  <a:srgbClr val="0D47A1"/>
                </a:solidFill>
              </a:rPr>
              <a:t>] </a:t>
            </a:r>
            <a:r>
              <a:rPr sz="1000" b="1" dirty="0" err="1">
                <a:solidFill>
                  <a:srgbClr val="0D47A1"/>
                </a:solidFill>
              </a:rPr>
              <a:t>모델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학습</a:t>
            </a:r>
            <a:r>
              <a:rPr sz="1000" b="1" dirty="0">
                <a:solidFill>
                  <a:srgbClr val="0D47A1"/>
                </a:solidFill>
              </a:rPr>
              <a:t>, </a:t>
            </a:r>
            <a:r>
              <a:rPr sz="1000" b="1" dirty="0" err="1">
                <a:solidFill>
                  <a:srgbClr val="0D47A1"/>
                </a:solidFill>
              </a:rPr>
              <a:t>분석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파이프라인</a:t>
            </a:r>
            <a:r>
              <a:rPr sz="1000" b="1" dirty="0">
                <a:solidFill>
                  <a:srgbClr val="0D47A1"/>
                </a:solidFill>
              </a:rPr>
              <a:t>, </a:t>
            </a:r>
            <a:r>
              <a:rPr sz="1000" b="1" dirty="0" err="1">
                <a:solidFill>
                  <a:srgbClr val="0D47A1"/>
                </a:solidFill>
              </a:rPr>
              <a:t>시뮬레이션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데이터</a:t>
            </a:r>
            <a:r>
              <a:rPr sz="1000" b="1" dirty="0">
                <a:solidFill>
                  <a:srgbClr val="0D47A1"/>
                </a:solidFill>
              </a:rPr>
              <a:t> -- </a:t>
            </a:r>
            <a:r>
              <a:rPr sz="1000" b="1" dirty="0" err="1">
                <a:solidFill>
                  <a:srgbClr val="0D47A1"/>
                </a:solidFill>
              </a:rPr>
              <a:t>본선</a:t>
            </a:r>
            <a:r>
              <a:rPr sz="1000" b="1" dirty="0">
                <a:solidFill>
                  <a:srgbClr val="0D47A1"/>
                </a:solidFill>
              </a:rPr>
              <a:t> 전 </a:t>
            </a:r>
            <a:r>
              <a:rPr sz="1000" b="1" dirty="0" err="1">
                <a:solidFill>
                  <a:srgbClr val="0D47A1"/>
                </a:solidFill>
              </a:rPr>
              <a:t>완료</a:t>
            </a:r>
            <a:endParaRPr sz="1000" b="1" dirty="0">
              <a:solidFill>
                <a:srgbClr val="0D47A1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 dirty="0">
                <a:solidFill>
                  <a:srgbClr val="0D47A1"/>
                </a:solidFill>
              </a:rPr>
              <a:t>[</a:t>
            </a:r>
            <a:r>
              <a:rPr sz="1000" b="1" dirty="0" err="1">
                <a:solidFill>
                  <a:srgbClr val="0D47A1"/>
                </a:solidFill>
              </a:rPr>
              <a:t>본선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당일</a:t>
            </a:r>
            <a:r>
              <a:rPr sz="1000" b="1" dirty="0">
                <a:solidFill>
                  <a:srgbClr val="0D47A1"/>
                </a:solidFill>
              </a:rPr>
              <a:t>] </a:t>
            </a:r>
            <a:r>
              <a:rPr sz="1000" b="1" dirty="0" err="1">
                <a:solidFill>
                  <a:srgbClr val="0D47A1"/>
                </a:solidFill>
              </a:rPr>
              <a:t>통합</a:t>
            </a:r>
            <a:r>
              <a:rPr sz="1000" b="1" dirty="0">
                <a:solidFill>
                  <a:srgbClr val="0D47A1"/>
                </a:solidFill>
              </a:rPr>
              <a:t> + E2E </a:t>
            </a:r>
            <a:r>
              <a:rPr sz="1000" b="1" dirty="0" err="1">
                <a:solidFill>
                  <a:srgbClr val="0D47A1"/>
                </a:solidFill>
              </a:rPr>
              <a:t>시연</a:t>
            </a:r>
            <a:r>
              <a:rPr sz="1000" b="1" dirty="0">
                <a:solidFill>
                  <a:srgbClr val="0D47A1"/>
                </a:solidFill>
              </a:rPr>
              <a:t> + </a:t>
            </a:r>
            <a:r>
              <a:rPr sz="1000" b="1" dirty="0" err="1">
                <a:solidFill>
                  <a:srgbClr val="0D47A1"/>
                </a:solidFill>
              </a:rPr>
              <a:t>발표에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집중</a:t>
            </a:r>
            <a:endParaRPr sz="1000" b="1" dirty="0">
              <a:solidFill>
                <a:srgbClr val="0D47A1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 dirty="0">
                <a:solidFill>
                  <a:srgbClr val="0D47A1"/>
                </a:solidFill>
              </a:rPr>
              <a:t>[</a:t>
            </a:r>
            <a:r>
              <a:rPr sz="1000" b="1" dirty="0" err="1">
                <a:solidFill>
                  <a:srgbClr val="0D47A1"/>
                </a:solidFill>
              </a:rPr>
              <a:t>향후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확장</a:t>
            </a:r>
            <a:r>
              <a:rPr sz="1000" b="1" dirty="0">
                <a:solidFill>
                  <a:srgbClr val="0D47A1"/>
                </a:solidFill>
              </a:rPr>
              <a:t>] </a:t>
            </a:r>
            <a:r>
              <a:rPr sz="1000" b="1" dirty="0" err="1">
                <a:solidFill>
                  <a:srgbClr val="0D47A1"/>
                </a:solidFill>
              </a:rPr>
              <a:t>라인카메라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직결</a:t>
            </a:r>
            <a:r>
              <a:rPr sz="1000" b="1" dirty="0">
                <a:solidFill>
                  <a:srgbClr val="0D47A1"/>
                </a:solidFill>
              </a:rPr>
              <a:t> / MES </a:t>
            </a:r>
            <a:r>
              <a:rPr sz="1000" b="1" dirty="0" err="1">
                <a:solidFill>
                  <a:srgbClr val="0D47A1"/>
                </a:solidFill>
              </a:rPr>
              <a:t>연동</a:t>
            </a:r>
            <a:r>
              <a:rPr sz="1000" b="1" dirty="0">
                <a:solidFill>
                  <a:srgbClr val="0D47A1"/>
                </a:solidFill>
              </a:rPr>
              <a:t> / </a:t>
            </a:r>
            <a:r>
              <a:rPr sz="1000" b="1" dirty="0" err="1">
                <a:solidFill>
                  <a:srgbClr val="0D47A1"/>
                </a:solidFill>
              </a:rPr>
              <a:t>치수검사</a:t>
            </a:r>
            <a:r>
              <a:rPr sz="1000" b="1" dirty="0">
                <a:solidFill>
                  <a:srgbClr val="0D47A1"/>
                </a:solidFill>
              </a:rPr>
              <a:t>(CAD) / </a:t>
            </a:r>
            <a:r>
              <a:rPr sz="1000" b="1" dirty="0" err="1">
                <a:solidFill>
                  <a:srgbClr val="0D47A1"/>
                </a:solidFill>
              </a:rPr>
              <a:t>다공장</a:t>
            </a:r>
            <a:r>
              <a:rPr sz="1000" b="1" dirty="0">
                <a:solidFill>
                  <a:srgbClr val="0D47A1"/>
                </a:solidFill>
              </a:rPr>
              <a:t> </a:t>
            </a:r>
            <a:r>
              <a:rPr sz="1000" b="1" dirty="0" err="1">
                <a:solidFill>
                  <a:srgbClr val="0D47A1"/>
                </a:solidFill>
              </a:rPr>
              <a:t>관제</a:t>
            </a:r>
            <a:endParaRPr sz="1000" b="1" dirty="0">
              <a:solidFill>
                <a:srgbClr val="0D47A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[1. 인력난 해결 (제조업 AI 도입 기대효과 1위, 40%)]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육안 검사 --&gt; AI 자동 검사 (탐지율 70% --&gt; 95%)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숙련자 은퇴해도 품질 유지, 3교대 검사 --&gt; 1인 모니터링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[2. 데이터가 알아서 쌓인다]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수기 --&gt; 카메라 자동 기록 (수집률 0% --&gt; 100%)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정확한 타임스탬프로 시계열 분석 가능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감사/인증 시 품질 이력 즉시 제출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[3. 불량 원인을 알 수 있다]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불량 시점 + 공정 조건 자동 매칭으로 인과 분석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반복 불량 50% 감소 목표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[4. 이빨이 없어도 잇몸으로 시작할 수 있다]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웹캠(3만원) + 일반 PC면 도입 가능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양품 이미지 100장이면 학습 시작 (제품 도면 불필요)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폐쇄망 Docker 설치, 보안 걱정 없음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AI 비전 77%가 파일럿에서 멈추는 이유(비용)를 제거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800">
              <a:solidFill>
                <a:srgbClr val="555555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[정책 연계]  2026 스마트 제조혁신 AI트랙 (154.5억, 150개사)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[확장 방향]  치수 검사 --&gt; MES 연동 --&gt; 다공장 관제 --&gt; 디지털 트윈</a:t>
            </a:r>
          </a:p>
        </p:txBody>
      </p: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1536</Words>
  <Application>Microsoft Office PowerPoint</Application>
  <PresentationFormat>와이드스크린</PresentationFormat>
  <Paragraphs>168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Pretendard_KR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지민 김</cp:lastModifiedBy>
  <cp:revision>84</cp:revision>
  <dcterms:created xsi:type="dcterms:W3CDTF">2024-05-21T00:00:56Z</dcterms:created>
  <dcterms:modified xsi:type="dcterms:W3CDTF">2026-05-13T00:59:09Z</dcterms:modified>
</cp:coreProperties>
</file>